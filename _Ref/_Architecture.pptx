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17"/>
  </p:notesMasterIdLst>
  <p:handoutMasterIdLst>
    <p:handoutMasterId r:id="rId18"/>
  </p:handoutMasterIdLst>
  <p:sldIdLst>
    <p:sldId id="257" r:id="rId5"/>
    <p:sldId id="1755" r:id="rId6"/>
    <p:sldId id="1827" r:id="rId7"/>
    <p:sldId id="1734" r:id="rId8"/>
    <p:sldId id="1782" r:id="rId9"/>
    <p:sldId id="1848" r:id="rId10"/>
    <p:sldId id="1849" r:id="rId11"/>
    <p:sldId id="1846" r:id="rId12"/>
    <p:sldId id="1769" r:id="rId13"/>
    <p:sldId id="1844" r:id="rId14"/>
    <p:sldId id="1845" r:id="rId15"/>
    <p:sldId id="1789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</p14:sldIdLst>
        </p14:section>
        <p14:section name="Architecture" id="{D3DC1810-4E8C-4CE8-A54B-4823B10DFE76}">
          <p14:sldIdLst>
            <p14:sldId id="1827"/>
            <p14:sldId id="1734"/>
            <p14:sldId id="1782"/>
            <p14:sldId id="1848"/>
            <p14:sldId id="1849"/>
          </p14:sldIdLst>
        </p14:section>
        <p14:section name="Components" id="{345B63CE-1C1A-4800-B9DF-6044AF9FF723}">
          <p14:sldIdLst>
            <p14:sldId id="1846"/>
            <p14:sldId id="1769"/>
            <p14:sldId id="1844"/>
            <p14:sldId id="1845"/>
            <p14:sldId id="17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23/04/2025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23/04/2025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355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7149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fr-FR" dirty="0"/>
              <a:t>Architecture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fr-FR" sz="240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1" y="2228295"/>
            <a:ext cx="4667250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Architecture</a:t>
            </a:r>
          </a:p>
          <a:p>
            <a:pPr marL="1162350" lvl="1" indent="-514350"/>
            <a:r>
              <a:rPr lang="fr-FR" dirty="0">
                <a:cs typeface="Arial"/>
              </a:rPr>
              <a:t>Software</a:t>
            </a:r>
          </a:p>
          <a:p>
            <a:pPr marL="1162350" lvl="1" indent="-514350"/>
            <a:r>
              <a:rPr lang="fr-FR" dirty="0">
                <a:cs typeface="Arial"/>
              </a:rPr>
              <a:t>Physical</a:t>
            </a: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2210A5FB-6871-06D1-7B72-59B2764044D8}"/>
              </a:ext>
            </a:extLst>
          </p:cNvPr>
          <p:cNvSpPr txBox="1">
            <a:spLocks/>
          </p:cNvSpPr>
          <p:nvPr/>
        </p:nvSpPr>
        <p:spPr>
          <a:xfrm>
            <a:off x="5652407" y="2228295"/>
            <a:ext cx="4667250" cy="34431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Components</a:t>
            </a:r>
          </a:p>
          <a:p>
            <a:pPr marL="1162350" lvl="1" indent="-514350"/>
            <a:r>
              <a:rPr lang="fr-FR" dirty="0">
                <a:cs typeface="Arial"/>
              </a:rPr>
              <a:t>Clean Architecture</a:t>
            </a:r>
          </a:p>
          <a:p>
            <a:pPr marL="1162350" lvl="1" indent="-514350"/>
            <a:r>
              <a:rPr lang="fr-FR" dirty="0">
                <a:cs typeface="Arial"/>
              </a:rPr>
              <a:t>App </a:t>
            </a:r>
          </a:p>
          <a:p>
            <a:pPr marL="1162350" lvl="1" indent="-514350"/>
            <a:r>
              <a:rPr lang="fr-FR" dirty="0">
                <a:cs typeface="Arial"/>
              </a:rPr>
              <a:t>Api</a:t>
            </a:r>
          </a:p>
          <a:p>
            <a:pPr marL="1162350" lvl="1" indent="-514350"/>
            <a:r>
              <a:rPr lang="fr-FR" dirty="0">
                <a:cs typeface="Arial"/>
              </a:rPr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4291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5FD1D09-7E16-D008-D2C8-DEEBA35415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95002" y="1089498"/>
            <a:ext cx="4377453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MicroServices</a:t>
            </a:r>
          </a:p>
        </p:txBody>
      </p:sp>
      <p:sp>
        <p:nvSpPr>
          <p:cNvPr id="28" name="Rectangle : coins arrondis 9">
            <a:extLst>
              <a:ext uri="{FF2B5EF4-FFF2-40B4-BE49-F238E27FC236}">
                <a16:creationId xmlns:a16="http://schemas.microsoft.com/office/drawing/2014/main" id="{8BE59E1C-5CF5-9638-66EE-BD7425589A9D}"/>
              </a:ext>
            </a:extLst>
          </p:cNvPr>
          <p:cNvSpPr/>
          <p:nvPr/>
        </p:nvSpPr>
        <p:spPr>
          <a:xfrm>
            <a:off x="2458948" y="2492104"/>
            <a:ext cx="4069028" cy="396054"/>
          </a:xfrm>
          <a:prstGeom prst="roundRect">
            <a:avLst>
              <a:gd name="adj" fmla="val 27050"/>
            </a:avLst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Gateway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23" name="Rectangle : coins arrondis 46">
            <a:extLst>
              <a:ext uri="{FF2B5EF4-FFF2-40B4-BE49-F238E27FC236}">
                <a16:creationId xmlns:a16="http://schemas.microsoft.com/office/drawing/2014/main" id="{4DBF0461-6099-954F-99F0-5FDAF2073731}"/>
              </a:ext>
            </a:extLst>
          </p:cNvPr>
          <p:cNvSpPr/>
          <p:nvPr/>
        </p:nvSpPr>
        <p:spPr>
          <a:xfrm>
            <a:off x="2458949" y="4351499"/>
            <a:ext cx="1392310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E973DD5-7F59-D436-D423-4E767876D25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870354" y="1098988"/>
            <a:ext cx="4410420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Monolythe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fld id="{16F61B19-5FB1-451F-938F-D0B1FAC2BDF6}" type="slidenum">
              <a:rPr lang="fr-FR" smtClean="0"/>
              <a:pPr/>
              <a:t>4</a:t>
            </a:fld>
            <a:endParaRPr lang="fr-FR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C993A5F8-F574-4098-A7B4-C03BD8EC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B86013-2D1D-4747-AA09-31D461CBC49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dirty="0"/>
              <a:t>Type</a:t>
            </a:r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4B89FAE-6F0D-4926-840B-BB40321956D2}"/>
              </a:ext>
            </a:extLst>
          </p:cNvPr>
          <p:cNvSpPr/>
          <p:nvPr/>
        </p:nvSpPr>
        <p:spPr>
          <a:xfrm>
            <a:off x="838199" y="1089216"/>
            <a:ext cx="1328461" cy="489887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 : coins arrondis 9">
            <a:extLst>
              <a:ext uri="{FF2B5EF4-FFF2-40B4-BE49-F238E27FC236}">
                <a16:creationId xmlns:a16="http://schemas.microsoft.com/office/drawing/2014/main" id="{F54BE307-4BF7-10A1-1375-30C93517636E}"/>
              </a:ext>
            </a:extLst>
          </p:cNvPr>
          <p:cNvSpPr/>
          <p:nvPr/>
        </p:nvSpPr>
        <p:spPr>
          <a:xfrm>
            <a:off x="889797" y="3195794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Back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20" name="Rectangle : coins arrondis 9">
            <a:extLst>
              <a:ext uri="{FF2B5EF4-FFF2-40B4-BE49-F238E27FC236}">
                <a16:creationId xmlns:a16="http://schemas.microsoft.com/office/drawing/2014/main" id="{9A1F2E06-F35D-77A8-9F19-0B7A904AED42}"/>
              </a:ext>
            </a:extLst>
          </p:cNvPr>
          <p:cNvSpPr/>
          <p:nvPr/>
        </p:nvSpPr>
        <p:spPr>
          <a:xfrm>
            <a:off x="889796" y="2271638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Front</a:t>
            </a:r>
          </a:p>
        </p:txBody>
      </p:sp>
      <p:sp>
        <p:nvSpPr>
          <p:cNvPr id="22" name="Rectangle : coins arrondis 9">
            <a:extLst>
              <a:ext uri="{FF2B5EF4-FFF2-40B4-BE49-F238E27FC236}">
                <a16:creationId xmlns:a16="http://schemas.microsoft.com/office/drawing/2014/main" id="{D1A97A47-6567-D1B9-E698-AD6AE33FDC4F}"/>
              </a:ext>
            </a:extLst>
          </p:cNvPr>
          <p:cNvSpPr/>
          <p:nvPr/>
        </p:nvSpPr>
        <p:spPr>
          <a:xfrm>
            <a:off x="889796" y="1396646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Externe</a:t>
            </a:r>
          </a:p>
        </p:txBody>
      </p:sp>
      <p:sp>
        <p:nvSpPr>
          <p:cNvPr id="54" name="Rectangle : coins arrondis 9">
            <a:extLst>
              <a:ext uri="{FF2B5EF4-FFF2-40B4-BE49-F238E27FC236}">
                <a16:creationId xmlns:a16="http://schemas.microsoft.com/office/drawing/2014/main" id="{1843B315-0A7E-6B01-3F10-E0ABC01F9F96}"/>
              </a:ext>
            </a:extLst>
          </p:cNvPr>
          <p:cNvSpPr/>
          <p:nvPr/>
        </p:nvSpPr>
        <p:spPr>
          <a:xfrm>
            <a:off x="5135666" y="4351499"/>
            <a:ext cx="1392310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56" name="Rectangle : coins arrondis 9">
            <a:extLst>
              <a:ext uri="{FF2B5EF4-FFF2-40B4-BE49-F238E27FC236}">
                <a16:creationId xmlns:a16="http://schemas.microsoft.com/office/drawing/2014/main" id="{A9C860B8-7DD0-01A3-1422-B789BA1B3D06}"/>
              </a:ext>
            </a:extLst>
          </p:cNvPr>
          <p:cNvSpPr/>
          <p:nvPr/>
        </p:nvSpPr>
        <p:spPr>
          <a:xfrm>
            <a:off x="2458948" y="3128018"/>
            <a:ext cx="4069028" cy="1072401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58" name="Rectangle : coins arrondis 9">
            <a:extLst>
              <a:ext uri="{FF2B5EF4-FFF2-40B4-BE49-F238E27FC236}">
                <a16:creationId xmlns:a16="http://schemas.microsoft.com/office/drawing/2014/main" id="{7D9CCA21-FD3B-F85D-748A-4BBA47436290}"/>
              </a:ext>
            </a:extLst>
          </p:cNvPr>
          <p:cNvSpPr/>
          <p:nvPr/>
        </p:nvSpPr>
        <p:spPr>
          <a:xfrm>
            <a:off x="5271480" y="4524645"/>
            <a:ext cx="1097953" cy="380629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40D10FFF-4C0A-DBA4-3AAC-BA9F9121D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171" y="4673793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61" name="Rectangle : coins arrondis 9">
            <a:extLst>
              <a:ext uri="{FF2B5EF4-FFF2-40B4-BE49-F238E27FC236}">
                <a16:creationId xmlns:a16="http://schemas.microsoft.com/office/drawing/2014/main" id="{4DEDA11E-BF46-29AD-09ED-F9DF0EC103BD}"/>
              </a:ext>
            </a:extLst>
          </p:cNvPr>
          <p:cNvSpPr/>
          <p:nvPr/>
        </p:nvSpPr>
        <p:spPr>
          <a:xfrm>
            <a:off x="2590800" y="3282346"/>
            <a:ext cx="1115523" cy="790242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User.Api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63" name="Rectangle : coins arrondis 9">
            <a:extLst>
              <a:ext uri="{FF2B5EF4-FFF2-40B4-BE49-F238E27FC236}">
                <a16:creationId xmlns:a16="http://schemas.microsoft.com/office/drawing/2014/main" id="{71B309D1-FA40-2A9D-40F9-26041DCBB3DF}"/>
              </a:ext>
            </a:extLst>
          </p:cNvPr>
          <p:cNvSpPr/>
          <p:nvPr/>
        </p:nvSpPr>
        <p:spPr>
          <a:xfrm>
            <a:off x="2458948" y="1478731"/>
            <a:ext cx="4069028" cy="888921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64" name="Rectangle : coins arrondis 9">
            <a:extLst>
              <a:ext uri="{FF2B5EF4-FFF2-40B4-BE49-F238E27FC236}">
                <a16:creationId xmlns:a16="http://schemas.microsoft.com/office/drawing/2014/main" id="{980652B5-7DDB-E29B-4418-2A6D00EC9526}"/>
              </a:ext>
            </a:extLst>
          </p:cNvPr>
          <p:cNvSpPr/>
          <p:nvPr/>
        </p:nvSpPr>
        <p:spPr>
          <a:xfrm>
            <a:off x="3573062" y="1572353"/>
            <a:ext cx="1420221" cy="699285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Ang</a:t>
            </a:r>
          </a:p>
        </p:txBody>
      </p:sp>
      <p:sp>
        <p:nvSpPr>
          <p:cNvPr id="65" name="Rectangle : coins arrondis 9">
            <a:extLst>
              <a:ext uri="{FF2B5EF4-FFF2-40B4-BE49-F238E27FC236}">
                <a16:creationId xmlns:a16="http://schemas.microsoft.com/office/drawing/2014/main" id="{4058CFAB-5B1A-4D56-B051-9D6B57E67569}"/>
              </a:ext>
            </a:extLst>
          </p:cNvPr>
          <p:cNvSpPr/>
          <p:nvPr/>
        </p:nvSpPr>
        <p:spPr>
          <a:xfrm>
            <a:off x="5271480" y="4980396"/>
            <a:ext cx="1099337" cy="380629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66" name="Connecteur : en angle 100">
            <a:extLst>
              <a:ext uri="{FF2B5EF4-FFF2-40B4-BE49-F238E27FC236}">
                <a16:creationId xmlns:a16="http://schemas.microsoft.com/office/drawing/2014/main" id="{9DD3D012-EC3A-A347-0A8D-451FFCD02635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rot="5400000">
            <a:off x="3210514" y="2209687"/>
            <a:ext cx="1010708" cy="1134611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 : en angle 100">
            <a:extLst>
              <a:ext uri="{FF2B5EF4-FFF2-40B4-BE49-F238E27FC236}">
                <a16:creationId xmlns:a16="http://schemas.microsoft.com/office/drawing/2014/main" id="{65F08163-DD7C-5672-AB9E-90734E2EDD1F}"/>
              </a:ext>
            </a:extLst>
          </p:cNvPr>
          <p:cNvCxnSpPr>
            <a:cxnSpLocks/>
            <a:stCxn id="61" idx="2"/>
            <a:endCxn id="60" idx="1"/>
          </p:cNvCxnSpPr>
          <p:nvPr/>
        </p:nvCxnSpPr>
        <p:spPr>
          <a:xfrm rot="5400000">
            <a:off x="2847960" y="4373190"/>
            <a:ext cx="601205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 : en angle 100">
            <a:extLst>
              <a:ext uri="{FF2B5EF4-FFF2-40B4-BE49-F238E27FC236}">
                <a16:creationId xmlns:a16="http://schemas.microsoft.com/office/drawing/2014/main" id="{49EBD24F-3C21-3CA2-EB13-75A10678244F}"/>
              </a:ext>
            </a:extLst>
          </p:cNvPr>
          <p:cNvCxnSpPr>
            <a:cxnSpLocks/>
            <a:stCxn id="61" idx="2"/>
            <a:endCxn id="58" idx="0"/>
          </p:cNvCxnSpPr>
          <p:nvPr/>
        </p:nvCxnSpPr>
        <p:spPr>
          <a:xfrm rot="16200000" flipH="1">
            <a:off x="4258481" y="2962668"/>
            <a:ext cx="452057" cy="2671895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AutoShape 4">
            <a:extLst>
              <a:ext uri="{FF2B5EF4-FFF2-40B4-BE49-F238E27FC236}">
                <a16:creationId xmlns:a16="http://schemas.microsoft.com/office/drawing/2014/main" id="{6121583A-2210-0EBD-186E-940A6C6DB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8052" y="4079350"/>
            <a:ext cx="1226812" cy="87139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b="1" dirty="0"/>
              <a:t>Db</a:t>
            </a:r>
            <a:endParaRPr lang="sv-SE" sz="2000" b="1" dirty="0"/>
          </a:p>
          <a:p>
            <a:pPr algn="ctr"/>
            <a:endParaRPr lang="en-US" sz="1000" b="1" dirty="0"/>
          </a:p>
        </p:txBody>
      </p:sp>
      <p:sp>
        <p:nvSpPr>
          <p:cNvPr id="76" name="Rectangle à coins arrondis 5">
            <a:extLst>
              <a:ext uri="{FF2B5EF4-FFF2-40B4-BE49-F238E27FC236}">
                <a16:creationId xmlns:a16="http://schemas.microsoft.com/office/drawing/2014/main" id="{889A0AF5-2DDC-D9AB-0298-89DAFD442E9B}"/>
              </a:ext>
            </a:extLst>
          </p:cNvPr>
          <p:cNvSpPr/>
          <p:nvPr/>
        </p:nvSpPr>
        <p:spPr>
          <a:xfrm>
            <a:off x="920582" y="5120146"/>
            <a:ext cx="1226812" cy="400764"/>
          </a:xfrm>
          <a:prstGeom prst="roundRect">
            <a:avLst>
              <a:gd name="adj" fmla="val 27605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600" b="1" dirty="0"/>
              <a:t>Tier Api</a:t>
            </a:r>
          </a:p>
        </p:txBody>
      </p:sp>
      <p:sp>
        <p:nvSpPr>
          <p:cNvPr id="4" name="Rectangle : coins arrondis 46">
            <a:extLst>
              <a:ext uri="{FF2B5EF4-FFF2-40B4-BE49-F238E27FC236}">
                <a16:creationId xmlns:a16="http://schemas.microsoft.com/office/drawing/2014/main" id="{474EABCA-CD18-DC0C-CFDA-9610AAAF1A73}"/>
              </a:ext>
            </a:extLst>
          </p:cNvPr>
          <p:cNvSpPr/>
          <p:nvPr/>
        </p:nvSpPr>
        <p:spPr>
          <a:xfrm>
            <a:off x="7015036" y="4351499"/>
            <a:ext cx="1835896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" name="Rectangle : coins arrondis 9">
            <a:extLst>
              <a:ext uri="{FF2B5EF4-FFF2-40B4-BE49-F238E27FC236}">
                <a16:creationId xmlns:a16="http://schemas.microsoft.com/office/drawing/2014/main" id="{3448C5C3-BDB7-94F8-F2C1-9A92500C1C3B}"/>
              </a:ext>
            </a:extLst>
          </p:cNvPr>
          <p:cNvSpPr/>
          <p:nvPr/>
        </p:nvSpPr>
        <p:spPr>
          <a:xfrm>
            <a:off x="8998539" y="4351498"/>
            <a:ext cx="2042187" cy="1482771"/>
          </a:xfrm>
          <a:prstGeom prst="roundRect">
            <a:avLst>
              <a:gd name="adj" fmla="val 6309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B514316-940A-8DA0-37AF-49612889B1E5}"/>
              </a:ext>
            </a:extLst>
          </p:cNvPr>
          <p:cNvSpPr/>
          <p:nvPr/>
        </p:nvSpPr>
        <p:spPr>
          <a:xfrm>
            <a:off x="7015034" y="2827269"/>
            <a:ext cx="4025691" cy="1373152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3" name="Rectangle : coins arrondis 9">
            <a:extLst>
              <a:ext uri="{FF2B5EF4-FFF2-40B4-BE49-F238E27FC236}">
                <a16:creationId xmlns:a16="http://schemas.microsoft.com/office/drawing/2014/main" id="{6A39EEC2-BE66-57BE-32F7-2BDFBD805D86}"/>
              </a:ext>
            </a:extLst>
          </p:cNvPr>
          <p:cNvSpPr/>
          <p:nvPr/>
        </p:nvSpPr>
        <p:spPr>
          <a:xfrm>
            <a:off x="9197376" y="4515048"/>
            <a:ext cx="1719336" cy="379214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57B75EE6-033A-7A17-031D-4EEB8E577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5775" y="4627861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15" name="Rectangle : coins arrondis 9">
            <a:extLst>
              <a:ext uri="{FF2B5EF4-FFF2-40B4-BE49-F238E27FC236}">
                <a16:creationId xmlns:a16="http://schemas.microsoft.com/office/drawing/2014/main" id="{41A08E29-C7F6-9550-8B3C-FC5FA74E2FCA}"/>
              </a:ext>
            </a:extLst>
          </p:cNvPr>
          <p:cNvSpPr/>
          <p:nvPr/>
        </p:nvSpPr>
        <p:spPr>
          <a:xfrm>
            <a:off x="7217393" y="3075516"/>
            <a:ext cx="3559464" cy="9426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Services</a:t>
            </a: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Net4.3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16" name="Rectangle : coins arrondis 9">
            <a:extLst>
              <a:ext uri="{FF2B5EF4-FFF2-40B4-BE49-F238E27FC236}">
                <a16:creationId xmlns:a16="http://schemas.microsoft.com/office/drawing/2014/main" id="{F2DE18CE-7776-DE94-B0CE-B62C83F769D0}"/>
              </a:ext>
            </a:extLst>
          </p:cNvPr>
          <p:cNvSpPr/>
          <p:nvPr/>
        </p:nvSpPr>
        <p:spPr>
          <a:xfrm>
            <a:off x="7015035" y="1478731"/>
            <a:ext cx="2172402" cy="1200220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7" name="Rectangle : coins arrondis 9">
            <a:extLst>
              <a:ext uri="{FF2B5EF4-FFF2-40B4-BE49-F238E27FC236}">
                <a16:creationId xmlns:a16="http://schemas.microsoft.com/office/drawing/2014/main" id="{1276D7C1-AD83-15F2-EEC4-E9539243FB73}"/>
              </a:ext>
            </a:extLst>
          </p:cNvPr>
          <p:cNvSpPr/>
          <p:nvPr/>
        </p:nvSpPr>
        <p:spPr>
          <a:xfrm>
            <a:off x="7217393" y="1695871"/>
            <a:ext cx="1778220" cy="660077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 err="1">
                <a:solidFill>
                  <a:schemeClr val="tx1">
                    <a:lumMod val="60000"/>
                    <a:lumOff val="40000"/>
                  </a:schemeClr>
                </a:solidFill>
              </a:rPr>
              <a:t>NetWebForms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8" name="Rectangle : coins arrondis 9">
            <a:extLst>
              <a:ext uri="{FF2B5EF4-FFF2-40B4-BE49-F238E27FC236}">
                <a16:creationId xmlns:a16="http://schemas.microsoft.com/office/drawing/2014/main" id="{277CB506-FA01-662B-A899-BC80D3BFBEA3}"/>
              </a:ext>
            </a:extLst>
          </p:cNvPr>
          <p:cNvSpPr/>
          <p:nvPr/>
        </p:nvSpPr>
        <p:spPr>
          <a:xfrm>
            <a:off x="9187437" y="4981812"/>
            <a:ext cx="1719335" cy="379214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21" name="Connecteur : en angle 100">
            <a:extLst>
              <a:ext uri="{FF2B5EF4-FFF2-40B4-BE49-F238E27FC236}">
                <a16:creationId xmlns:a16="http://schemas.microsoft.com/office/drawing/2014/main" id="{E8B439E5-2B62-3799-826B-6AF235077D0A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rot="16200000" flipH="1">
            <a:off x="8192030" y="2270421"/>
            <a:ext cx="719568" cy="890622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 : en angle 100">
            <a:extLst>
              <a:ext uri="{FF2B5EF4-FFF2-40B4-BE49-F238E27FC236}">
                <a16:creationId xmlns:a16="http://schemas.microsoft.com/office/drawing/2014/main" id="{8E0BADC4-999E-94D9-6CBB-2A520304CEF2}"/>
              </a:ext>
            </a:extLst>
          </p:cNvPr>
          <p:cNvCxnSpPr>
            <a:cxnSpLocks/>
            <a:stCxn id="15" idx="2"/>
            <a:endCxn id="14" idx="1"/>
          </p:cNvCxnSpPr>
          <p:nvPr/>
        </p:nvCxnSpPr>
        <p:spPr>
          <a:xfrm rot="5400000">
            <a:off x="8159793" y="3790528"/>
            <a:ext cx="609705" cy="1064960"/>
          </a:xfrm>
          <a:prstGeom prst="bentConnector3">
            <a:avLst>
              <a:gd name="adj1" fmla="val 41073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 : en angle 100">
            <a:extLst>
              <a:ext uri="{FF2B5EF4-FFF2-40B4-BE49-F238E27FC236}">
                <a16:creationId xmlns:a16="http://schemas.microsoft.com/office/drawing/2014/main" id="{6679B6D9-C31A-5C72-E203-6FAEA802EEC3}"/>
              </a:ext>
            </a:extLst>
          </p:cNvPr>
          <p:cNvCxnSpPr>
            <a:cxnSpLocks/>
            <a:stCxn id="15" idx="2"/>
            <a:endCxn id="13" idx="0"/>
          </p:cNvCxnSpPr>
          <p:nvPr/>
        </p:nvCxnSpPr>
        <p:spPr>
          <a:xfrm rot="16200000" flipH="1">
            <a:off x="9278638" y="3736642"/>
            <a:ext cx="496892" cy="1059919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 : coins arrondis 9">
            <a:extLst>
              <a:ext uri="{FF2B5EF4-FFF2-40B4-BE49-F238E27FC236}">
                <a16:creationId xmlns:a16="http://schemas.microsoft.com/office/drawing/2014/main" id="{4CC9DE7B-13B8-97FB-C64F-C38B683A4C26}"/>
              </a:ext>
            </a:extLst>
          </p:cNvPr>
          <p:cNvSpPr/>
          <p:nvPr/>
        </p:nvSpPr>
        <p:spPr>
          <a:xfrm>
            <a:off x="3757234" y="3288696"/>
            <a:ext cx="1012937" cy="78389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Bill.Api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51" name="Rectangle : coins arrondis 9">
            <a:extLst>
              <a:ext uri="{FF2B5EF4-FFF2-40B4-BE49-F238E27FC236}">
                <a16:creationId xmlns:a16="http://schemas.microsoft.com/office/drawing/2014/main" id="{3FC0B34F-FB3D-D5E3-46B5-9A7DF8E422CC}"/>
              </a:ext>
            </a:extLst>
          </p:cNvPr>
          <p:cNvSpPr/>
          <p:nvPr/>
        </p:nvSpPr>
        <p:spPr>
          <a:xfrm>
            <a:off x="4891845" y="3282346"/>
            <a:ext cx="1485926" cy="7902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Transac.Api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cxnSp>
        <p:nvCxnSpPr>
          <p:cNvPr id="71" name="Connecteur : en angle 100">
            <a:extLst>
              <a:ext uri="{FF2B5EF4-FFF2-40B4-BE49-F238E27FC236}">
                <a16:creationId xmlns:a16="http://schemas.microsoft.com/office/drawing/2014/main" id="{724DFA9A-DF22-A03E-771A-2230A25C4058}"/>
              </a:ext>
            </a:extLst>
          </p:cNvPr>
          <p:cNvCxnSpPr>
            <a:cxnSpLocks/>
            <a:stCxn id="64" idx="2"/>
            <a:endCxn id="50" idx="0"/>
          </p:cNvCxnSpPr>
          <p:nvPr/>
        </p:nvCxnSpPr>
        <p:spPr>
          <a:xfrm rot="5400000">
            <a:off x="3764909" y="2770432"/>
            <a:ext cx="1017058" cy="1947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 : en angle 100">
            <a:extLst>
              <a:ext uri="{FF2B5EF4-FFF2-40B4-BE49-F238E27FC236}">
                <a16:creationId xmlns:a16="http://schemas.microsoft.com/office/drawing/2014/main" id="{0F30B15E-3B89-D2FA-8F26-506D83A1354F}"/>
              </a:ext>
            </a:extLst>
          </p:cNvPr>
          <p:cNvCxnSpPr>
            <a:cxnSpLocks/>
            <a:stCxn id="64" idx="2"/>
            <a:endCxn id="51" idx="0"/>
          </p:cNvCxnSpPr>
          <p:nvPr/>
        </p:nvCxnSpPr>
        <p:spPr>
          <a:xfrm rot="16200000" flipH="1">
            <a:off x="4453636" y="2101174"/>
            <a:ext cx="1010708" cy="1351635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 : coins arrondis 9">
            <a:extLst>
              <a:ext uri="{FF2B5EF4-FFF2-40B4-BE49-F238E27FC236}">
                <a16:creationId xmlns:a16="http://schemas.microsoft.com/office/drawing/2014/main" id="{E4E2ED07-B970-4C7E-AFE1-EFB439AB9A2B}"/>
              </a:ext>
            </a:extLst>
          </p:cNvPr>
          <p:cNvSpPr/>
          <p:nvPr/>
        </p:nvSpPr>
        <p:spPr>
          <a:xfrm>
            <a:off x="3925491" y="4373190"/>
            <a:ext cx="1101513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317113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B6D25AA5-A9CF-4FD3-9EF3-8568EBC278CF}"/>
              </a:ext>
            </a:extLst>
          </p:cNvPr>
          <p:cNvSpPr/>
          <p:nvPr/>
        </p:nvSpPr>
        <p:spPr>
          <a:xfrm>
            <a:off x="1924204" y="3770295"/>
            <a:ext cx="4642729" cy="2194031"/>
          </a:xfrm>
          <a:prstGeom prst="roundRect">
            <a:avLst>
              <a:gd name="adj" fmla="val 5786"/>
            </a:avLst>
          </a:prstGeom>
          <a:solidFill>
            <a:srgbClr val="A396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2" name="Rectangle : coins arrondis 61">
            <a:extLst>
              <a:ext uri="{FF2B5EF4-FFF2-40B4-BE49-F238E27FC236}">
                <a16:creationId xmlns:a16="http://schemas.microsoft.com/office/drawing/2014/main" id="{A4EE5134-E364-40F1-8B20-F47B07A3A9AE}"/>
              </a:ext>
            </a:extLst>
          </p:cNvPr>
          <p:cNvSpPr/>
          <p:nvPr/>
        </p:nvSpPr>
        <p:spPr>
          <a:xfrm>
            <a:off x="1924204" y="1101076"/>
            <a:ext cx="4642729" cy="2534089"/>
          </a:xfrm>
          <a:prstGeom prst="roundRect">
            <a:avLst>
              <a:gd name="adj" fmla="val 603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52B67624-72B4-4A4C-BC3E-59EA06A99A75}"/>
              </a:ext>
            </a:extLst>
          </p:cNvPr>
          <p:cNvSpPr/>
          <p:nvPr/>
        </p:nvSpPr>
        <p:spPr>
          <a:xfrm>
            <a:off x="4465138" y="1465205"/>
            <a:ext cx="1978910" cy="144229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Web Code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0EABF467-4A7E-4B5F-BD50-4FF814A9F768}"/>
              </a:ext>
            </a:extLst>
          </p:cNvPr>
          <p:cNvSpPr/>
          <p:nvPr/>
        </p:nvSpPr>
        <p:spPr>
          <a:xfrm>
            <a:off x="6810019" y="1101076"/>
            <a:ext cx="4470756" cy="3588005"/>
          </a:xfrm>
          <a:prstGeom prst="roundRect">
            <a:avLst>
              <a:gd name="adj" fmla="val 3779"/>
            </a:avLst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79" name="Espace réservé du numéro de diapositive 1">
            <a:extLst>
              <a:ext uri="{FF2B5EF4-FFF2-40B4-BE49-F238E27FC236}">
                <a16:creationId xmlns:a16="http://schemas.microsoft.com/office/drawing/2014/main" id="{9131B11E-7F98-495A-9D09-3A35D4F794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5</a:t>
            </a:fld>
            <a:endParaRPr lang="fr-FR"/>
          </a:p>
        </p:txBody>
      </p:sp>
      <p:sp>
        <p:nvSpPr>
          <p:cNvPr id="83" name="Text Placeholder 5">
            <a:extLst>
              <a:ext uri="{FF2B5EF4-FFF2-40B4-BE49-F238E27FC236}">
                <a16:creationId xmlns:a16="http://schemas.microsoft.com/office/drawing/2014/main" id="{DBC00441-79CC-F49A-6D78-B45BBF8238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en-GB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535540" cy="575908"/>
          </a:xfrm>
        </p:spPr>
        <p:txBody>
          <a:bodyPr>
            <a:noAutofit/>
          </a:bodyPr>
          <a:lstStyle/>
          <a:p>
            <a:r>
              <a:rPr lang="fr-FR" sz="3200" dirty="0"/>
              <a:t>MVC (</a:t>
            </a:r>
            <a:r>
              <a:rPr lang="fr-FR" sz="3200" dirty="0" err="1"/>
              <a:t>Detailed</a:t>
            </a:r>
            <a:r>
              <a:rPr lang="fr-FR" sz="3200" dirty="0"/>
              <a:t>)</a:t>
            </a:r>
            <a:endParaRPr lang="en-US" sz="3200" dirty="0"/>
          </a:p>
        </p:txBody>
      </p:sp>
      <p:sp>
        <p:nvSpPr>
          <p:cNvPr id="74" name="Espace réservé du pied de page 5">
            <a:extLst>
              <a:ext uri="{FF2B5EF4-FFF2-40B4-BE49-F238E27FC236}">
                <a16:creationId xmlns:a16="http://schemas.microsoft.com/office/drawing/2014/main" id="{8786F22E-3D03-45CB-AE06-BCFA2D7F9E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92" name="Rectangle à coins arrondis 5">
            <a:extLst>
              <a:ext uri="{FF2B5EF4-FFF2-40B4-BE49-F238E27FC236}">
                <a16:creationId xmlns:a16="http://schemas.microsoft.com/office/drawing/2014/main" id="{B9EB4296-AA0B-4A54-BDC1-206A62BFEA5B}"/>
              </a:ext>
            </a:extLst>
          </p:cNvPr>
          <p:cNvSpPr/>
          <p:nvPr/>
        </p:nvSpPr>
        <p:spPr>
          <a:xfrm>
            <a:off x="6999132" y="1268365"/>
            <a:ext cx="4139039" cy="1032311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App.Server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76" name="AutoShape 4">
            <a:extLst>
              <a:ext uri="{FF2B5EF4-FFF2-40B4-BE49-F238E27FC236}">
                <a16:creationId xmlns:a16="http://schemas.microsoft.com/office/drawing/2014/main" id="{C4F0F135-E34F-4C63-BC00-E2C517E82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0020" y="4849123"/>
            <a:ext cx="4470754" cy="1115203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 dirty="0" err="1"/>
              <a:t>App.Db</a:t>
            </a:r>
            <a:endParaRPr lang="fr-FR" sz="1400" b="1" dirty="0"/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SQL Server</a:t>
            </a:r>
            <a:endParaRPr lang="sv-SE" sz="1400" b="1" dirty="0"/>
          </a:p>
          <a:p>
            <a:pPr algn="ctr"/>
            <a:endParaRPr lang="en-US" sz="1000" b="1" dirty="0"/>
          </a:p>
        </p:txBody>
      </p:sp>
      <p:sp>
        <p:nvSpPr>
          <p:cNvPr id="56" name="Rectangle à coins arrondis 5">
            <a:extLst>
              <a:ext uri="{FF2B5EF4-FFF2-40B4-BE49-F238E27FC236}">
                <a16:creationId xmlns:a16="http://schemas.microsoft.com/office/drawing/2014/main" id="{2B121631-34A7-428A-BFEA-E35803266460}"/>
              </a:ext>
            </a:extLst>
          </p:cNvPr>
          <p:cNvSpPr/>
          <p:nvPr/>
        </p:nvSpPr>
        <p:spPr>
          <a:xfrm>
            <a:off x="7575189" y="5374360"/>
            <a:ext cx="821716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CLIENT</a:t>
            </a:r>
          </a:p>
        </p:txBody>
      </p:sp>
      <p:sp>
        <p:nvSpPr>
          <p:cNvPr id="57" name="Rectangle à coins arrondis 5">
            <a:extLst>
              <a:ext uri="{FF2B5EF4-FFF2-40B4-BE49-F238E27FC236}">
                <a16:creationId xmlns:a16="http://schemas.microsoft.com/office/drawing/2014/main" id="{DACB0B50-78F4-4873-8B91-ED8045CC83B4}"/>
              </a:ext>
            </a:extLst>
          </p:cNvPr>
          <p:cNvSpPr/>
          <p:nvPr/>
        </p:nvSpPr>
        <p:spPr>
          <a:xfrm>
            <a:off x="7005743" y="2664999"/>
            <a:ext cx="4132428" cy="1839673"/>
          </a:xfrm>
          <a:prstGeom prst="roundRect">
            <a:avLst>
              <a:gd name="adj" fmla="val 1132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DataAccess.Vs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63" name="Rectangle à coins arrondis 5">
            <a:extLst>
              <a:ext uri="{FF2B5EF4-FFF2-40B4-BE49-F238E27FC236}">
                <a16:creationId xmlns:a16="http://schemas.microsoft.com/office/drawing/2014/main" id="{13CC042E-C52B-4877-B867-4575FE9308FB}"/>
              </a:ext>
            </a:extLst>
          </p:cNvPr>
          <p:cNvSpPr/>
          <p:nvPr/>
        </p:nvSpPr>
        <p:spPr>
          <a:xfrm>
            <a:off x="8506819" y="551003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 dirty="0"/>
              <a:t>ENTITY</a:t>
            </a:r>
          </a:p>
        </p:txBody>
      </p:sp>
      <p:sp>
        <p:nvSpPr>
          <p:cNvPr id="67" name="Rectangle à coins arrondis 5">
            <a:extLst>
              <a:ext uri="{FF2B5EF4-FFF2-40B4-BE49-F238E27FC236}">
                <a16:creationId xmlns:a16="http://schemas.microsoft.com/office/drawing/2014/main" id="{529F9236-4CD6-4F51-B7F2-AF088215D6E4}"/>
              </a:ext>
            </a:extLst>
          </p:cNvPr>
          <p:cNvSpPr/>
          <p:nvPr/>
        </p:nvSpPr>
        <p:spPr>
          <a:xfrm>
            <a:off x="9618979" y="541146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RISQUE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890EC83B-A2E0-4C9B-874A-3D66F883C986}"/>
              </a:ext>
            </a:extLst>
          </p:cNvPr>
          <p:cNvSpPr/>
          <p:nvPr/>
        </p:nvSpPr>
        <p:spPr>
          <a:xfrm>
            <a:off x="4588532" y="1868468"/>
            <a:ext cx="807139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accent1"/>
                </a:solidFill>
              </a:rPr>
              <a:t>Html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CB819888-C270-47F5-83AC-10ACDB96A78B}"/>
              </a:ext>
            </a:extLst>
          </p:cNvPr>
          <p:cNvSpPr/>
          <p:nvPr/>
        </p:nvSpPr>
        <p:spPr>
          <a:xfrm>
            <a:off x="4588533" y="2387481"/>
            <a:ext cx="1700624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Js</a:t>
            </a:r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F99E9993-0649-4A60-B6B8-7AF609EFB33D}"/>
              </a:ext>
            </a:extLst>
          </p:cNvPr>
          <p:cNvSpPr/>
          <p:nvPr/>
        </p:nvSpPr>
        <p:spPr>
          <a:xfrm>
            <a:off x="7110260" y="3018397"/>
            <a:ext cx="1577560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FCXxx.cs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3A606C4A-1008-415E-9634-34343E6498D1}"/>
              </a:ext>
            </a:extLst>
          </p:cNvPr>
          <p:cNvSpPr/>
          <p:nvPr/>
        </p:nvSpPr>
        <p:spPr>
          <a:xfrm>
            <a:off x="5482016" y="1868468"/>
            <a:ext cx="807140" cy="417567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Css</a:t>
            </a:r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B74600F0-ECAE-4108-B4AB-9E1BC3BA46C4}"/>
              </a:ext>
            </a:extLst>
          </p:cNvPr>
          <p:cNvSpPr/>
          <p:nvPr/>
        </p:nvSpPr>
        <p:spPr>
          <a:xfrm>
            <a:off x="7223409" y="1699781"/>
            <a:ext cx="1785609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XxxService.cs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49E57E8-BD30-450C-B784-D02392DE5D0C}"/>
              </a:ext>
            </a:extLst>
          </p:cNvPr>
          <p:cNvSpPr/>
          <p:nvPr/>
        </p:nvSpPr>
        <p:spPr>
          <a:xfrm>
            <a:off x="7110259" y="3506091"/>
            <a:ext cx="1111915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bg1"/>
                </a:solidFill>
              </a:rPr>
              <a:t>BCXxx.</a:t>
            </a:r>
            <a:r>
              <a:rPr lang="fr-FR" sz="1400" b="1">
                <a:solidFill>
                  <a:schemeClr val="bg1"/>
                </a:solidFill>
              </a:rPr>
              <a:t>cs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BE3DCF7-438A-4857-99A2-3E844701C7A7}"/>
              </a:ext>
            </a:extLst>
          </p:cNvPr>
          <p:cNvSpPr/>
          <p:nvPr/>
        </p:nvSpPr>
        <p:spPr>
          <a:xfrm>
            <a:off x="7117877" y="3996247"/>
            <a:ext cx="1980511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96CAD6D-5F5C-45F5-AB47-C56C08067F96}"/>
              </a:ext>
            </a:extLst>
          </p:cNvPr>
          <p:cNvSpPr/>
          <p:nvPr/>
        </p:nvSpPr>
        <p:spPr>
          <a:xfrm>
            <a:off x="4269809" y="4238073"/>
            <a:ext cx="2077764" cy="1532618"/>
          </a:xfrm>
          <a:prstGeom prst="roundRect">
            <a:avLst>
              <a:gd name="adj" fmla="val 941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Controller</a:t>
            </a:r>
            <a:endParaRPr lang="fr-FR" sz="1400" b="1">
              <a:solidFill>
                <a:schemeClr val="accent1"/>
              </a:solidFill>
            </a:endParaRP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5B735238-10EF-4477-8249-5EDC0D02ABB3}"/>
              </a:ext>
            </a:extLst>
          </p:cNvPr>
          <p:cNvSpPr/>
          <p:nvPr/>
        </p:nvSpPr>
        <p:spPr>
          <a:xfrm>
            <a:off x="2145764" y="5076698"/>
            <a:ext cx="1803941" cy="693992"/>
          </a:xfrm>
          <a:prstGeom prst="roundRect">
            <a:avLst>
              <a:gd name="adj" fmla="val 2485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Models</a:t>
            </a:r>
          </a:p>
        </p:txBody>
      </p:sp>
      <p:sp>
        <p:nvSpPr>
          <p:cNvPr id="41" name="Flèche : bas 40">
            <a:extLst>
              <a:ext uri="{FF2B5EF4-FFF2-40B4-BE49-F238E27FC236}">
                <a16:creationId xmlns:a16="http://schemas.microsoft.com/office/drawing/2014/main" id="{B7AACAC4-9DA3-4544-822B-6369E71D64FE}"/>
              </a:ext>
            </a:extLst>
          </p:cNvPr>
          <p:cNvSpPr/>
          <p:nvPr/>
        </p:nvSpPr>
        <p:spPr>
          <a:xfrm>
            <a:off x="5336181" y="2805372"/>
            <a:ext cx="295009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06E90DA0-9E08-416D-AF3E-2BF20BF83168}"/>
              </a:ext>
            </a:extLst>
          </p:cNvPr>
          <p:cNvSpPr/>
          <p:nvPr/>
        </p:nvSpPr>
        <p:spPr>
          <a:xfrm>
            <a:off x="2133473" y="4238072"/>
            <a:ext cx="1795707" cy="634966"/>
          </a:xfrm>
          <a:prstGeom prst="roundRect">
            <a:avLst>
              <a:gd name="adj" fmla="val 23206"/>
            </a:avLst>
          </a:prstGeom>
          <a:solidFill>
            <a:srgbClr val="D1C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Views</a:t>
            </a:r>
          </a:p>
        </p:txBody>
      </p:sp>
      <p:sp>
        <p:nvSpPr>
          <p:cNvPr id="46" name="Flèche : bas 45">
            <a:extLst>
              <a:ext uri="{FF2B5EF4-FFF2-40B4-BE49-F238E27FC236}">
                <a16:creationId xmlns:a16="http://schemas.microsoft.com/office/drawing/2014/main" id="{784C7C63-3FB0-4B79-BF4C-6911B7A28762}"/>
              </a:ext>
            </a:extLst>
          </p:cNvPr>
          <p:cNvSpPr/>
          <p:nvPr/>
        </p:nvSpPr>
        <p:spPr>
          <a:xfrm rot="5400000">
            <a:off x="3932851" y="5250501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Flèche : bas 46">
            <a:extLst>
              <a:ext uri="{FF2B5EF4-FFF2-40B4-BE49-F238E27FC236}">
                <a16:creationId xmlns:a16="http://schemas.microsoft.com/office/drawing/2014/main" id="{9520597C-0D37-4BCC-94D1-5240EBF96969}"/>
              </a:ext>
            </a:extLst>
          </p:cNvPr>
          <p:cNvSpPr/>
          <p:nvPr/>
        </p:nvSpPr>
        <p:spPr>
          <a:xfrm rot="16200000">
            <a:off x="3932851" y="4378797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Flèche : bas 53">
            <a:extLst>
              <a:ext uri="{FF2B5EF4-FFF2-40B4-BE49-F238E27FC236}">
                <a16:creationId xmlns:a16="http://schemas.microsoft.com/office/drawing/2014/main" id="{776255E9-87FC-4971-A329-B69BEA56AE55}"/>
              </a:ext>
            </a:extLst>
          </p:cNvPr>
          <p:cNvSpPr/>
          <p:nvPr/>
        </p:nvSpPr>
        <p:spPr>
          <a:xfrm rot="10800000">
            <a:off x="5008466" y="2805372"/>
            <a:ext cx="324263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618418C-9B26-4176-BBE4-52764F7FBE54}"/>
              </a:ext>
            </a:extLst>
          </p:cNvPr>
          <p:cNvSpPr/>
          <p:nvPr/>
        </p:nvSpPr>
        <p:spPr>
          <a:xfrm>
            <a:off x="4750886" y="3424842"/>
            <a:ext cx="1134700" cy="468472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HTTP </a:t>
            </a:r>
          </a:p>
          <a:p>
            <a:pPr algn="ctr"/>
            <a:r>
              <a:rPr lang="fr-FR" sz="1400" b="1">
                <a:solidFill>
                  <a:schemeClr val="tx1"/>
                </a:solidFill>
              </a:rPr>
              <a:t>Get | Post</a:t>
            </a: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C8A2134-8B94-4103-828D-E55B0241A93F}"/>
              </a:ext>
            </a:extLst>
          </p:cNvPr>
          <p:cNvSpPr/>
          <p:nvPr/>
        </p:nvSpPr>
        <p:spPr>
          <a:xfrm>
            <a:off x="2167280" y="1214455"/>
            <a:ext cx="1773435" cy="124836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State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63E1A407-6457-4EBB-A6B4-930C558C1196}"/>
              </a:ext>
            </a:extLst>
          </p:cNvPr>
          <p:cNvSpPr/>
          <p:nvPr/>
        </p:nvSpPr>
        <p:spPr>
          <a:xfrm>
            <a:off x="2240091" y="1576522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JS </a:t>
            </a:r>
            <a:r>
              <a:rPr lang="fr-FR" sz="1400" b="1" err="1">
                <a:solidFill>
                  <a:schemeClr val="tx1"/>
                </a:solidFill>
              </a:rPr>
              <a:t>HardCode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C8DF223B-B094-448A-85BF-F33AA07CDD39}"/>
              </a:ext>
            </a:extLst>
          </p:cNvPr>
          <p:cNvSpPr/>
          <p:nvPr/>
        </p:nvSpPr>
        <p:spPr>
          <a:xfrm>
            <a:off x="2240091" y="2009817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Window.Storage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4" name="Flèche : bas 63">
            <a:extLst>
              <a:ext uri="{FF2B5EF4-FFF2-40B4-BE49-F238E27FC236}">
                <a16:creationId xmlns:a16="http://schemas.microsoft.com/office/drawing/2014/main" id="{31FDDECA-B695-41F5-ADE7-4C3ACACE7830}"/>
              </a:ext>
            </a:extLst>
          </p:cNvPr>
          <p:cNvSpPr/>
          <p:nvPr/>
        </p:nvSpPr>
        <p:spPr>
          <a:xfrm rot="10800000">
            <a:off x="2860698" y="4878616"/>
            <a:ext cx="341255" cy="19808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Flèche : bas 65">
            <a:extLst>
              <a:ext uri="{FF2B5EF4-FFF2-40B4-BE49-F238E27FC236}">
                <a16:creationId xmlns:a16="http://schemas.microsoft.com/office/drawing/2014/main" id="{46B25FD8-A65C-4B20-9E91-78F14EB6133B}"/>
              </a:ext>
            </a:extLst>
          </p:cNvPr>
          <p:cNvSpPr/>
          <p:nvPr/>
        </p:nvSpPr>
        <p:spPr>
          <a:xfrm rot="5400000">
            <a:off x="4086799" y="2116016"/>
            <a:ext cx="341255" cy="65649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Flèche : bas 67">
            <a:extLst>
              <a:ext uri="{FF2B5EF4-FFF2-40B4-BE49-F238E27FC236}">
                <a16:creationId xmlns:a16="http://schemas.microsoft.com/office/drawing/2014/main" id="{28A0A7A7-1497-49EA-845F-5F880768183E}"/>
              </a:ext>
            </a:extLst>
          </p:cNvPr>
          <p:cNvSpPr/>
          <p:nvPr/>
        </p:nvSpPr>
        <p:spPr>
          <a:xfrm rot="16200000">
            <a:off x="4092568" y="1628262"/>
            <a:ext cx="341255" cy="64496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62FE55D2-7506-4215-BE71-9A4700117AF9}"/>
              </a:ext>
            </a:extLst>
          </p:cNvPr>
          <p:cNvSpPr/>
          <p:nvPr/>
        </p:nvSpPr>
        <p:spPr>
          <a:xfrm>
            <a:off x="2005379" y="3918985"/>
            <a:ext cx="956188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+ Kendo</a:t>
            </a:r>
          </a:p>
        </p:txBody>
      </p:sp>
      <p:cxnSp>
        <p:nvCxnSpPr>
          <p:cNvPr id="5" name="Connecteur : en angle 4">
            <a:extLst>
              <a:ext uri="{FF2B5EF4-FFF2-40B4-BE49-F238E27FC236}">
                <a16:creationId xmlns:a16="http://schemas.microsoft.com/office/drawing/2014/main" id="{41E1644D-AAA4-41E0-82D8-28E4C63DD6F0}"/>
              </a:ext>
            </a:extLst>
          </p:cNvPr>
          <p:cNvCxnSpPr>
            <a:cxnSpLocks/>
            <a:stCxn id="48" idx="3"/>
            <a:endCxn id="92" idx="1"/>
          </p:cNvCxnSpPr>
          <p:nvPr/>
        </p:nvCxnSpPr>
        <p:spPr>
          <a:xfrm flipV="1">
            <a:off x="6347573" y="1784521"/>
            <a:ext cx="651559" cy="3219861"/>
          </a:xfrm>
          <a:prstGeom prst="bentConnector3">
            <a:avLst>
              <a:gd name="adj1" fmla="val 50000"/>
            </a:avLst>
          </a:prstGeom>
          <a:ln w="104775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0468028B-8B5B-4688-B64E-0668B2938F0E}"/>
              </a:ext>
            </a:extLst>
          </p:cNvPr>
          <p:cNvSpPr/>
          <p:nvPr/>
        </p:nvSpPr>
        <p:spPr>
          <a:xfrm>
            <a:off x="8786103" y="3014239"/>
            <a:ext cx="2230239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FCYyy.cs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42B06485-8033-4455-B602-C23431505CE7}"/>
              </a:ext>
            </a:extLst>
          </p:cNvPr>
          <p:cNvSpPr/>
          <p:nvPr/>
        </p:nvSpPr>
        <p:spPr>
          <a:xfrm>
            <a:off x="8298873" y="3508552"/>
            <a:ext cx="1320106" cy="408142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0" name="Flèche : bas 79">
            <a:extLst>
              <a:ext uri="{FF2B5EF4-FFF2-40B4-BE49-F238E27FC236}">
                <a16:creationId xmlns:a16="http://schemas.microsoft.com/office/drawing/2014/main" id="{E2EDB3DE-017B-4C66-A899-A23BF45EA30B}"/>
              </a:ext>
            </a:extLst>
          </p:cNvPr>
          <p:cNvSpPr/>
          <p:nvPr/>
        </p:nvSpPr>
        <p:spPr>
          <a:xfrm>
            <a:off x="7491165" y="2121371"/>
            <a:ext cx="224349" cy="902530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Flèche : bas 81">
            <a:extLst>
              <a:ext uri="{FF2B5EF4-FFF2-40B4-BE49-F238E27FC236}">
                <a16:creationId xmlns:a16="http://schemas.microsoft.com/office/drawing/2014/main" id="{448C26F3-CCB4-4F00-960F-5BC5A55ED8EE}"/>
              </a:ext>
            </a:extLst>
          </p:cNvPr>
          <p:cNvSpPr/>
          <p:nvPr/>
        </p:nvSpPr>
        <p:spPr>
          <a:xfrm>
            <a:off x="7710372" y="4418864"/>
            <a:ext cx="394941" cy="473306"/>
          </a:xfrm>
          <a:prstGeom prst="downArrow">
            <a:avLst>
              <a:gd name="adj1" fmla="val 55226"/>
              <a:gd name="adj2" fmla="val 46821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CDED5271-4DF7-486F-81C8-F3CD3A39F038}"/>
              </a:ext>
            </a:extLst>
          </p:cNvPr>
          <p:cNvSpPr/>
          <p:nvPr/>
        </p:nvSpPr>
        <p:spPr>
          <a:xfrm>
            <a:off x="8213240" y="4532826"/>
            <a:ext cx="1283182" cy="316193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Sql Query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FBFE4D04-FCEE-4A9B-891A-87D52CBD9319}"/>
              </a:ext>
            </a:extLst>
          </p:cNvPr>
          <p:cNvSpPr/>
          <p:nvPr/>
        </p:nvSpPr>
        <p:spPr>
          <a:xfrm>
            <a:off x="2076037" y="2501661"/>
            <a:ext cx="1717930" cy="1084095"/>
          </a:xfrm>
          <a:prstGeom prst="roundRect">
            <a:avLst>
              <a:gd name="adj" fmla="val 11047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Lib</a:t>
            </a:r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0E9B8F66-72EC-4262-9B70-FAE3F9291C26}"/>
              </a:ext>
            </a:extLst>
          </p:cNvPr>
          <p:cNvSpPr/>
          <p:nvPr/>
        </p:nvSpPr>
        <p:spPr>
          <a:xfrm>
            <a:off x="2250748" y="2825163"/>
            <a:ext cx="1429963" cy="335555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ajaxmethod.js</a:t>
            </a:r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2512C5F0-A8A0-4B92-BFE3-FEA8CC944890}"/>
              </a:ext>
            </a:extLst>
          </p:cNvPr>
          <p:cNvSpPr/>
          <p:nvPr/>
        </p:nvSpPr>
        <p:spPr>
          <a:xfrm>
            <a:off x="2242877" y="3206137"/>
            <a:ext cx="1439115" cy="307374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DeportHelper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6936B178-D13D-408C-A975-7ECF43B4AE77}"/>
              </a:ext>
            </a:extLst>
          </p:cNvPr>
          <p:cNvSpPr/>
          <p:nvPr/>
        </p:nvSpPr>
        <p:spPr>
          <a:xfrm>
            <a:off x="3794936" y="1990703"/>
            <a:ext cx="815924" cy="373920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jQuery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6F096DB1-95B3-4A3E-A390-D17AB8679335}"/>
              </a:ext>
            </a:extLst>
          </p:cNvPr>
          <p:cNvSpPr/>
          <p:nvPr/>
        </p:nvSpPr>
        <p:spPr>
          <a:xfrm>
            <a:off x="2971782" y="3921243"/>
            <a:ext cx="1182747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PartialView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840F2427-52A4-41CF-B039-42C9F8E0A479}"/>
              </a:ext>
            </a:extLst>
          </p:cNvPr>
          <p:cNvSpPr/>
          <p:nvPr/>
        </p:nvSpPr>
        <p:spPr>
          <a:xfrm>
            <a:off x="772451" y="1099594"/>
            <a:ext cx="1015925" cy="491385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à coins arrondis 5">
            <a:extLst>
              <a:ext uri="{FF2B5EF4-FFF2-40B4-BE49-F238E27FC236}">
                <a16:creationId xmlns:a16="http://schemas.microsoft.com/office/drawing/2014/main" id="{5D04AFC9-29E7-4D3E-9FE3-F9043DFBA8FF}"/>
              </a:ext>
            </a:extLst>
          </p:cNvPr>
          <p:cNvSpPr/>
          <p:nvPr/>
        </p:nvSpPr>
        <p:spPr>
          <a:xfrm>
            <a:off x="800766" y="4684028"/>
            <a:ext cx="942456" cy="1156044"/>
          </a:xfrm>
          <a:prstGeom prst="roundRect">
            <a:avLst/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06" name="Rectangle à coins arrondis 5">
            <a:extLst>
              <a:ext uri="{FF2B5EF4-FFF2-40B4-BE49-F238E27FC236}">
                <a16:creationId xmlns:a16="http://schemas.microsoft.com/office/drawing/2014/main" id="{ED005136-660E-4DDA-BB1F-0A82255CE3C9}"/>
              </a:ext>
            </a:extLst>
          </p:cNvPr>
          <p:cNvSpPr/>
          <p:nvPr/>
        </p:nvSpPr>
        <p:spPr>
          <a:xfrm>
            <a:off x="807022" y="3107676"/>
            <a:ext cx="942456" cy="1201910"/>
          </a:xfrm>
          <a:prstGeom prst="roundRect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107" name="Rectangle à coins arrondis 5">
            <a:extLst>
              <a:ext uri="{FF2B5EF4-FFF2-40B4-BE49-F238E27FC236}">
                <a16:creationId xmlns:a16="http://schemas.microsoft.com/office/drawing/2014/main" id="{EA429A6D-1356-4A58-B5C3-F3C0739EFBB2}"/>
              </a:ext>
            </a:extLst>
          </p:cNvPr>
          <p:cNvSpPr/>
          <p:nvPr/>
        </p:nvSpPr>
        <p:spPr>
          <a:xfrm>
            <a:off x="845674" y="1291050"/>
            <a:ext cx="870524" cy="11114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Front</a:t>
            </a:r>
          </a:p>
        </p:txBody>
      </p:sp>
      <p:sp>
        <p:nvSpPr>
          <p:cNvPr id="108" name="AutoShape 4">
            <a:extLst>
              <a:ext uri="{FF2B5EF4-FFF2-40B4-BE49-F238E27FC236}">
                <a16:creationId xmlns:a16="http://schemas.microsoft.com/office/drawing/2014/main" id="{1A36AD15-2DAB-481C-B656-4B1489055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280" y="5057194"/>
            <a:ext cx="782925" cy="68815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/>
              <a:t>Db</a:t>
            </a:r>
            <a:endParaRPr lang="sv-SE" sz="1400" b="1"/>
          </a:p>
        </p:txBody>
      </p:sp>
      <p:sp>
        <p:nvSpPr>
          <p:cNvPr id="110" name="Rectangle : coins arrondis 109">
            <a:extLst>
              <a:ext uri="{FF2B5EF4-FFF2-40B4-BE49-F238E27FC236}">
                <a16:creationId xmlns:a16="http://schemas.microsoft.com/office/drawing/2014/main" id="{E1661D57-3AC3-4BAF-88FF-71FD5055AAA1}"/>
              </a:ext>
            </a:extLst>
          </p:cNvPr>
          <p:cNvSpPr/>
          <p:nvPr/>
        </p:nvSpPr>
        <p:spPr>
          <a:xfrm>
            <a:off x="886280" y="1666641"/>
            <a:ext cx="780583" cy="667329"/>
          </a:xfrm>
          <a:prstGeom prst="roundRect">
            <a:avLst>
              <a:gd name="adj" fmla="val 149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File</a:t>
            </a:r>
          </a:p>
        </p:txBody>
      </p:sp>
      <p:sp>
        <p:nvSpPr>
          <p:cNvPr id="111" name="Rectangle à coins arrondis 5">
            <a:extLst>
              <a:ext uri="{FF2B5EF4-FFF2-40B4-BE49-F238E27FC236}">
                <a16:creationId xmlns:a16="http://schemas.microsoft.com/office/drawing/2014/main" id="{0860104B-7203-4721-943C-1D32E3113A95}"/>
              </a:ext>
            </a:extLst>
          </p:cNvPr>
          <p:cNvSpPr/>
          <p:nvPr/>
        </p:nvSpPr>
        <p:spPr>
          <a:xfrm>
            <a:off x="840571" y="3503180"/>
            <a:ext cx="877998" cy="679692"/>
          </a:xfrm>
          <a:prstGeom prst="roundRect">
            <a:avLst>
              <a:gd name="adj" fmla="val 15710"/>
            </a:avLst>
          </a:prstGeom>
          <a:solidFill>
            <a:srgbClr val="7561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chemeClr val="bg1"/>
                </a:solidFill>
              </a:rPr>
              <a:t>Concept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FEF35B83-7BF4-F9DA-6A00-EDFDF287C641}"/>
              </a:ext>
            </a:extLst>
          </p:cNvPr>
          <p:cNvSpPr/>
          <p:nvPr/>
        </p:nvSpPr>
        <p:spPr>
          <a:xfrm>
            <a:off x="9130848" y="1699781"/>
            <a:ext cx="1885494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YyyService.cs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" name="Flèche : bas 3">
            <a:extLst>
              <a:ext uri="{FF2B5EF4-FFF2-40B4-BE49-F238E27FC236}">
                <a16:creationId xmlns:a16="http://schemas.microsoft.com/office/drawing/2014/main" id="{2A35D31D-4CFB-7FF0-3E3E-860B32D3C72E}"/>
              </a:ext>
            </a:extLst>
          </p:cNvPr>
          <p:cNvSpPr/>
          <p:nvPr/>
        </p:nvSpPr>
        <p:spPr>
          <a:xfrm>
            <a:off x="10115963" y="2186354"/>
            <a:ext cx="219207" cy="85163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6F81D2B-3DA5-BEC1-52D5-BA25B29346D0}"/>
              </a:ext>
            </a:extLst>
          </p:cNvPr>
          <p:cNvSpPr/>
          <p:nvPr/>
        </p:nvSpPr>
        <p:spPr>
          <a:xfrm>
            <a:off x="9695678" y="3511756"/>
            <a:ext cx="1320664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BCZzz.cs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FC0BC4-3CAE-FBAE-E202-0F45EE56FFDC}"/>
              </a:ext>
            </a:extLst>
          </p:cNvPr>
          <p:cNvSpPr/>
          <p:nvPr/>
        </p:nvSpPr>
        <p:spPr>
          <a:xfrm>
            <a:off x="9220218" y="3990214"/>
            <a:ext cx="1796124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2" name="Flèche : bas 79">
            <a:extLst>
              <a:ext uri="{FF2B5EF4-FFF2-40B4-BE49-F238E27FC236}">
                <a16:creationId xmlns:a16="http://schemas.microsoft.com/office/drawing/2014/main" id="{5F461801-9A4D-75F3-B460-B0AFDC304509}"/>
              </a:ext>
            </a:extLst>
          </p:cNvPr>
          <p:cNvSpPr/>
          <p:nvPr/>
        </p:nvSpPr>
        <p:spPr>
          <a:xfrm>
            <a:off x="7103648" y="3219540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bas 79">
            <a:extLst>
              <a:ext uri="{FF2B5EF4-FFF2-40B4-BE49-F238E27FC236}">
                <a16:creationId xmlns:a16="http://schemas.microsoft.com/office/drawing/2014/main" id="{30DDF15E-13BF-B845-28DF-CDEB14EE1AE3}"/>
              </a:ext>
            </a:extLst>
          </p:cNvPr>
          <p:cNvSpPr/>
          <p:nvPr/>
        </p:nvSpPr>
        <p:spPr>
          <a:xfrm>
            <a:off x="8347442" y="3254421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bas 79">
            <a:extLst>
              <a:ext uri="{FF2B5EF4-FFF2-40B4-BE49-F238E27FC236}">
                <a16:creationId xmlns:a16="http://schemas.microsoft.com/office/drawing/2014/main" id="{CCE1F381-428B-CE89-215E-6554A614090A}"/>
              </a:ext>
            </a:extLst>
          </p:cNvPr>
          <p:cNvSpPr/>
          <p:nvPr/>
        </p:nvSpPr>
        <p:spPr>
          <a:xfrm>
            <a:off x="7117039" y="3803888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786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6A009-50C4-D7FC-6A28-9C966D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Micro Front-End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87DCCC-357D-7A75-390E-B5E0561E60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94E89F-740F-33E2-D188-A8D7AA320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836226D-7B94-03D0-3036-04AD388EF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2001791-04B0-54A0-8AB4-142E848FF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400169"/>
              </p:ext>
            </p:extLst>
          </p:nvPr>
        </p:nvGraphicFramePr>
        <p:xfrm>
          <a:off x="838199" y="1092851"/>
          <a:ext cx="10442576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3572">
                  <a:extLst>
                    <a:ext uri="{9D8B030D-6E8A-4147-A177-3AD203B41FA5}">
                      <a16:colId xmlns:a16="http://schemas.microsoft.com/office/drawing/2014/main" val="2381970815"/>
                    </a:ext>
                  </a:extLst>
                </a:gridCol>
                <a:gridCol w="2547258">
                  <a:extLst>
                    <a:ext uri="{9D8B030D-6E8A-4147-A177-3AD203B41FA5}">
                      <a16:colId xmlns:a16="http://schemas.microsoft.com/office/drawing/2014/main" val="1776404395"/>
                    </a:ext>
                  </a:extLst>
                </a:gridCol>
                <a:gridCol w="2035628">
                  <a:extLst>
                    <a:ext uri="{9D8B030D-6E8A-4147-A177-3AD203B41FA5}">
                      <a16:colId xmlns:a16="http://schemas.microsoft.com/office/drawing/2014/main" val="3162235557"/>
                    </a:ext>
                  </a:extLst>
                </a:gridCol>
                <a:gridCol w="2866118">
                  <a:extLst>
                    <a:ext uri="{9D8B030D-6E8A-4147-A177-3AD203B41FA5}">
                      <a16:colId xmlns:a16="http://schemas.microsoft.com/office/drawing/2014/main" val="221937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Topic \ Solution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iFrame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Inline 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Shadow DOM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353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Content Security Policy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</a:t>
                      </a:r>
                      <a:r>
                        <a:rPr lang="fr-FR" sz="1800" b="0" dirty="0" err="1"/>
                        <a:t>Independant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585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/>
                        <a:t>Encapsulated</a:t>
                      </a:r>
                      <a:r>
                        <a:rPr lang="fr-FR" sz="1800" b="0" dirty="0"/>
                        <a:t>/</a:t>
                      </a:r>
                      <a:r>
                        <a:rPr lang="fr-FR" sz="1800" b="0" dirty="0" err="1"/>
                        <a:t>iFrame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All Css shared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Encapsulation/µApp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Macro app Css inherited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1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State Mngt with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Specific router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Screen Reader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Stuck </a:t>
                      </a:r>
                      <a:r>
                        <a:rPr lang="fr-FR" sz="1800" b="0" dirty="0" err="1"/>
                        <a:t>outside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4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Service Worker &amp; SSR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Compatible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Impl</a:t>
                      </a:r>
                      <a:r>
                        <a:rPr lang="en-GB" dirty="0"/>
                        <a:t> SW with scope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067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Sizing &amp; 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</a:t>
                      </a:r>
                      <a:r>
                        <a:rPr lang="fr-FR" sz="1800" b="0" dirty="0" err="1"/>
                        <a:t>Known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quirks</a:t>
                      </a:r>
                      <a:endParaRPr lang="fr-FR" sz="1800" b="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(+) No problem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32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 err="1"/>
                        <a:t>MacroTo</a:t>
                      </a:r>
                      <a:r>
                        <a:rPr lang="en-GB" b="1" dirty="0"/>
                        <a:t> µApp 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(-)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might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need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postMsg</a:t>
                      </a: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843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Special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arrangement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8151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0877272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Framework Compat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Ok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 </a:t>
                      </a:r>
                      <a:r>
                        <a:rPr lang="en-GB" dirty="0" err="1"/>
                        <a:t>compat</a:t>
                      </a:r>
                      <a:r>
                        <a:rPr lang="en-GB" dirty="0"/>
                        <a:t> with Angular, React…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796730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13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821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67108-6332-A43C-67BB-FE17C55B3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D436C3-3FCB-4095-7ED0-119C10B5C1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01B635-EDCD-F2B0-AF76-6F57CD8B71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411989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REST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11F2C881-EA88-0BB3-E3D4-DBD284FB4D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6EFF5C1-47C0-B05F-2482-F401F095B4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4141" y="1089498"/>
            <a:ext cx="4876633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SOAP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Expose a </a:t>
            </a: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Contract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 : WSDL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dirty="0">
                <a:ea typeface="+mn-lt"/>
                <a:cs typeface="+mn-lt"/>
              </a:rPr>
              <a:t>Opération, Input, Output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Built-In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Error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 Handling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(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faults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47B638-1396-12D7-2249-D2625AC7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SOAP vs. REST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4745FBC7-CD3A-91D5-601F-63035AB7D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AE578017-88CB-D884-64FE-260828BCC9E1}"/>
              </a:ext>
            </a:extLst>
          </p:cNvPr>
          <p:cNvSpPr txBox="1">
            <a:spLocks/>
          </p:cNvSpPr>
          <p:nvPr/>
        </p:nvSpPr>
        <p:spPr>
          <a:xfrm>
            <a:off x="924863" y="1508756"/>
            <a:ext cx="2934475" cy="1761991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Architecture Style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JSON, XML, HTML…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HTTP (Primarily)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Stateless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AA385AC7-0E8B-48EA-E7BC-30DA59E14EDD}"/>
              </a:ext>
            </a:extLst>
          </p:cNvPr>
          <p:cNvSpPr txBox="1">
            <a:spLocks/>
          </p:cNvSpPr>
          <p:nvPr/>
        </p:nvSpPr>
        <p:spPr>
          <a:xfrm>
            <a:off x="4013290" y="1508756"/>
            <a:ext cx="2236899" cy="1484205"/>
          </a:xfrm>
          <a:prstGeom prst="roundRect">
            <a:avLst>
              <a:gd name="adj" fmla="val 122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Implementation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Web Service RESTFul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API REST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Restful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Web</a:t>
            </a:r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328315A1-8DED-9D88-6FEF-8E96A96688EE}"/>
              </a:ext>
            </a:extLst>
          </p:cNvPr>
          <p:cNvSpPr txBox="1">
            <a:spLocks/>
          </p:cNvSpPr>
          <p:nvPr/>
        </p:nvSpPr>
        <p:spPr>
          <a:xfrm>
            <a:off x="929604" y="3380734"/>
            <a:ext cx="3175461" cy="2387768"/>
          </a:xfrm>
          <a:prstGeom prst="roundRect">
            <a:avLst>
              <a:gd name="adj" fmla="val 104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Principles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>
                <a:ea typeface="+mn-lt"/>
                <a:cs typeface="+mn-lt"/>
              </a:rPr>
              <a:t>Uniform Interface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 err="1">
                <a:ea typeface="+mn-lt"/>
                <a:cs typeface="+mn-lt"/>
              </a:rPr>
              <a:t>Statelessness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393174DE-7163-7A8F-299E-2D7C6A2C7A73}"/>
              </a:ext>
            </a:extLst>
          </p:cNvPr>
          <p:cNvSpPr txBox="1">
            <a:spLocks/>
          </p:cNvSpPr>
          <p:nvPr/>
        </p:nvSpPr>
        <p:spPr>
          <a:xfrm>
            <a:off x="6758568" y="3693622"/>
            <a:ext cx="4174903" cy="2074880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Protocol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XML (Highly structured, more verbose)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Agnostic (HTTP, SMTP, FTP…)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Can be stateful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7752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31488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9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Clean Architecture</a:t>
            </a:r>
            <a:endParaRPr lang="fr-LU" dirty="0"/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44359B76-73FA-7E61-0356-A8E0990028C8}"/>
              </a:ext>
            </a:extLst>
          </p:cNvPr>
          <p:cNvSpPr txBox="1">
            <a:spLocks/>
          </p:cNvSpPr>
          <p:nvPr/>
        </p:nvSpPr>
        <p:spPr>
          <a:xfrm>
            <a:off x="838201" y="1089498"/>
            <a:ext cx="2507702" cy="2735250"/>
          </a:xfrm>
          <a:prstGeom prst="roundRect">
            <a:avLst>
              <a:gd name="adj" fmla="val 4844"/>
            </a:avLst>
          </a:prstGeom>
          <a:solidFill>
            <a:schemeClr val="tx1">
              <a:lumMod val="40000"/>
              <a:lumOff val="60000"/>
            </a:schemeClr>
          </a:solidFill>
          <a:ln w="158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ea typeface="+mn-lt"/>
                <a:cs typeface="+mn-lt"/>
              </a:rPr>
              <a:t>Projects</a:t>
            </a:r>
          </a:p>
        </p:txBody>
      </p:sp>
      <p:sp>
        <p:nvSpPr>
          <p:cNvPr id="11" name="Rectangle à coins arrondis 5">
            <a:extLst>
              <a:ext uri="{FF2B5EF4-FFF2-40B4-BE49-F238E27FC236}">
                <a16:creationId xmlns:a16="http://schemas.microsoft.com/office/drawing/2014/main" id="{9F5C3BB9-73EA-79FA-EB28-5D95103B3316}"/>
              </a:ext>
            </a:extLst>
          </p:cNvPr>
          <p:cNvSpPr/>
          <p:nvPr/>
        </p:nvSpPr>
        <p:spPr>
          <a:xfrm>
            <a:off x="1284537" y="1450324"/>
            <a:ext cx="167517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chemeClr val="tx1"/>
                </a:solidFill>
              </a:rPr>
              <a:t>Presentation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2" name="Rectangle à coins arrondis 5">
            <a:extLst>
              <a:ext uri="{FF2B5EF4-FFF2-40B4-BE49-F238E27FC236}">
                <a16:creationId xmlns:a16="http://schemas.microsoft.com/office/drawing/2014/main" id="{EC166E4F-4175-35AE-F68C-57E39C4FB011}"/>
              </a:ext>
            </a:extLst>
          </p:cNvPr>
          <p:cNvSpPr/>
          <p:nvPr/>
        </p:nvSpPr>
        <p:spPr>
          <a:xfrm>
            <a:off x="1284538" y="2012539"/>
            <a:ext cx="1675172" cy="368749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Application</a:t>
            </a:r>
          </a:p>
        </p:txBody>
      </p:sp>
      <p:sp>
        <p:nvSpPr>
          <p:cNvPr id="22" name="Rectangle à coins arrondis 5">
            <a:extLst>
              <a:ext uri="{FF2B5EF4-FFF2-40B4-BE49-F238E27FC236}">
                <a16:creationId xmlns:a16="http://schemas.microsoft.com/office/drawing/2014/main" id="{3A196730-5FF0-57C3-83C9-FE054E098369}"/>
              </a:ext>
            </a:extLst>
          </p:cNvPr>
          <p:cNvSpPr/>
          <p:nvPr/>
        </p:nvSpPr>
        <p:spPr>
          <a:xfrm>
            <a:off x="1553748" y="3304329"/>
            <a:ext cx="112786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Domain</a:t>
            </a:r>
          </a:p>
        </p:txBody>
      </p:sp>
      <p:cxnSp>
        <p:nvCxnSpPr>
          <p:cNvPr id="24" name="Connecteur : en angle 23">
            <a:extLst>
              <a:ext uri="{FF2B5EF4-FFF2-40B4-BE49-F238E27FC236}">
                <a16:creationId xmlns:a16="http://schemas.microsoft.com/office/drawing/2014/main" id="{F8AB7FD8-4B3E-37BB-C953-B1AA04E50CCB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5400000">
            <a:off x="2025391" y="1915805"/>
            <a:ext cx="193467" cy="1270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916A356B-0432-6392-F536-7CF18853053E}"/>
              </a:ext>
            </a:extLst>
          </p:cNvPr>
          <p:cNvCxnSpPr>
            <a:cxnSpLocks/>
            <a:stCxn id="12" idx="1"/>
            <a:endCxn id="22" idx="1"/>
          </p:cNvCxnSpPr>
          <p:nvPr/>
        </p:nvCxnSpPr>
        <p:spPr>
          <a:xfrm rot="10800000" flipH="1" flipV="1">
            <a:off x="1284538" y="2196913"/>
            <a:ext cx="269210" cy="1291789"/>
          </a:xfrm>
          <a:prstGeom prst="bentConnector3">
            <a:avLst>
              <a:gd name="adj1" fmla="val -37436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à coins arrondis 5">
            <a:extLst>
              <a:ext uri="{FF2B5EF4-FFF2-40B4-BE49-F238E27FC236}">
                <a16:creationId xmlns:a16="http://schemas.microsoft.com/office/drawing/2014/main" id="{3068F744-F8AF-78EB-D637-1E5498B11C8A}"/>
              </a:ext>
            </a:extLst>
          </p:cNvPr>
          <p:cNvSpPr/>
          <p:nvPr/>
        </p:nvSpPr>
        <p:spPr>
          <a:xfrm>
            <a:off x="1284536" y="2697951"/>
            <a:ext cx="1675174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Infrastructure</a:t>
            </a:r>
          </a:p>
        </p:txBody>
      </p: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D30431C-6466-D79E-461F-343A75567534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rot="5400000">
            <a:off x="1963793" y="2539619"/>
            <a:ext cx="316663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3E2AE59F-A6F1-C503-0A46-5712BB804070}"/>
              </a:ext>
            </a:extLst>
          </p:cNvPr>
          <p:cNvSpPr txBox="1">
            <a:spLocks/>
          </p:cNvSpPr>
          <p:nvPr/>
        </p:nvSpPr>
        <p:spPr>
          <a:xfrm>
            <a:off x="3517936" y="1089498"/>
            <a:ext cx="3782961" cy="2339502"/>
          </a:xfrm>
          <a:prstGeom prst="roundRect">
            <a:avLst>
              <a:gd name="adj" fmla="val 84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Presentation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User Interface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Layout.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Pages / Components.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Assets.</a:t>
            </a:r>
            <a:r>
              <a:rPr lang="en-US" sz="1600" b="0" dirty="0">
                <a:solidFill>
                  <a:schemeClr val="tx2"/>
                </a:solidFill>
              </a:rPr>
              <a:t> (Css / Js / Icon / Svg…)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Middlewares.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90368AB-CD9C-01B3-C4C8-420795040E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472930" y="1089498"/>
            <a:ext cx="3709932" cy="2331115"/>
          </a:xfrm>
          <a:prstGeom prst="roundRect">
            <a:avLst>
              <a:gd name="adj" fmla="val 786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ea typeface="+mn-lt"/>
                <a:cs typeface="+mn-lt"/>
              </a:rPr>
              <a:t>Application</a:t>
            </a:r>
            <a:endParaRPr lang="en-US" sz="2000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Business Logic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Mappers.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Dtos.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Services.</a:t>
            </a:r>
            <a:r>
              <a:rPr lang="en-US" sz="1600" b="0" dirty="0">
                <a:solidFill>
                  <a:schemeClr val="tx2"/>
                </a:solidFill>
              </a:rPr>
              <a:t> Middleware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Validators.</a:t>
            </a:r>
          </a:p>
        </p:txBody>
      </p:sp>
      <p:sp>
        <p:nvSpPr>
          <p:cNvPr id="25" name="Espace réservé du texte 7">
            <a:extLst>
              <a:ext uri="{FF2B5EF4-FFF2-40B4-BE49-F238E27FC236}">
                <a16:creationId xmlns:a16="http://schemas.microsoft.com/office/drawing/2014/main" id="{0A576673-9D67-A804-CA78-9D9273D501FF}"/>
              </a:ext>
            </a:extLst>
          </p:cNvPr>
          <p:cNvSpPr txBox="1">
            <a:spLocks/>
          </p:cNvSpPr>
          <p:nvPr/>
        </p:nvSpPr>
        <p:spPr>
          <a:xfrm>
            <a:off x="3517936" y="3635170"/>
            <a:ext cx="3782961" cy="2339502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Domain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Coeur de l’application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Attributes.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Configuration. </a:t>
            </a:r>
            <a:r>
              <a:rPr lang="en-US" sz="1600" b="0" dirty="0">
                <a:solidFill>
                  <a:schemeClr val="tx2"/>
                </a:solidFill>
              </a:rPr>
              <a:t>Conf model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Enums.</a:t>
            </a:r>
            <a:r>
              <a:rPr lang="en-US" sz="1600" b="0" dirty="0">
                <a:solidFill>
                  <a:schemeClr val="tx2"/>
                </a:solidFill>
              </a:rPr>
              <a:t> (avec Extensions)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Entities.</a:t>
            </a:r>
            <a:r>
              <a:rPr lang="en-US" sz="1600" b="0" dirty="0">
                <a:solidFill>
                  <a:schemeClr val="tx2"/>
                </a:solidFill>
              </a:rPr>
              <a:t> (Si Api)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Exceptions.</a:t>
            </a: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4DD310C5-7236-2F84-CA3F-F5C90094316D}"/>
              </a:ext>
            </a:extLst>
          </p:cNvPr>
          <p:cNvSpPr txBox="1">
            <a:spLocks/>
          </p:cNvSpPr>
          <p:nvPr/>
        </p:nvSpPr>
        <p:spPr>
          <a:xfrm>
            <a:off x="7472929" y="3635171"/>
            <a:ext cx="3709933" cy="2331116"/>
          </a:xfrm>
          <a:prstGeom prst="roundRect">
            <a:avLst>
              <a:gd name="adj" fmla="val 742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>
                <a:ea typeface="+mn-lt"/>
                <a:cs typeface="+mn-lt"/>
              </a:rPr>
              <a:t>Infrastructure</a:t>
            </a:r>
            <a:endParaRPr lang="fr-FR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External </a:t>
            </a:r>
            <a:r>
              <a:rPr lang="fr-FR" sz="1600" b="0" dirty="0">
                <a:solidFill>
                  <a:schemeClr val="tx2"/>
                </a:solidFill>
              </a:rPr>
              <a:t>components in interaction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HttpClients.</a:t>
            </a:r>
            <a:r>
              <a:rPr lang="fr-FR" sz="1600" b="0" dirty="0">
                <a:solidFill>
                  <a:schemeClr val="tx2"/>
                </a:solidFill>
              </a:rPr>
              <a:t> Apis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HttpHandlers.</a:t>
            </a:r>
            <a:r>
              <a:rPr lang="fr-FR" sz="1600" b="0" dirty="0">
                <a:solidFill>
                  <a:schemeClr val="tx2"/>
                </a:solidFill>
              </a:rPr>
              <a:t> </a:t>
            </a:r>
            <a:r>
              <a:rPr lang="en-US" sz="1600" b="0" dirty="0">
                <a:solidFill>
                  <a:schemeClr val="tx2"/>
                </a:solidFill>
              </a:rPr>
              <a:t>Middleware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Consumer. </a:t>
            </a:r>
            <a:r>
              <a:rPr lang="fr-FR" sz="1600" b="0" dirty="0">
                <a:solidFill>
                  <a:schemeClr val="tx2"/>
                </a:solidFill>
              </a:rPr>
              <a:t>Message Broker (Kafka)</a:t>
            </a:r>
          </a:p>
        </p:txBody>
      </p:sp>
      <p:cxnSp>
        <p:nvCxnSpPr>
          <p:cNvPr id="29" name="Connecteur : en angle 33">
            <a:extLst>
              <a:ext uri="{FF2B5EF4-FFF2-40B4-BE49-F238E27FC236}">
                <a16:creationId xmlns:a16="http://schemas.microsoft.com/office/drawing/2014/main" id="{0D437B96-F8AC-F53F-B2A8-BCDEDC930293}"/>
              </a:ext>
            </a:extLst>
          </p:cNvPr>
          <p:cNvCxnSpPr>
            <a:cxnSpLocks/>
            <a:stCxn id="33" idx="2"/>
            <a:endCxn id="22" idx="0"/>
          </p:cNvCxnSpPr>
          <p:nvPr/>
        </p:nvCxnSpPr>
        <p:spPr>
          <a:xfrm rot="5400000">
            <a:off x="2001087" y="3183293"/>
            <a:ext cx="237630" cy="4443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A16815C1-A465-85BE-AB74-8EF259AF3165}"/>
              </a:ext>
            </a:extLst>
          </p:cNvPr>
          <p:cNvSpPr txBox="1">
            <a:spLocks/>
          </p:cNvSpPr>
          <p:nvPr/>
        </p:nvSpPr>
        <p:spPr>
          <a:xfrm>
            <a:off x="838200" y="3989741"/>
            <a:ext cx="2507704" cy="1981748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highlight>
                  <a:srgbClr val="FFFF00"/>
                </a:highlight>
                <a:ea typeface="+mn-lt"/>
                <a:cs typeface="+mn-lt"/>
              </a:rPr>
              <a:t>Code Organisation</a:t>
            </a:r>
            <a:endParaRPr lang="fr-FR" sz="16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dossier / </a:t>
            </a:r>
            <a:r>
              <a:rPr lang="fr-FR" sz="1600" b="0" dirty="0" err="1">
                <a:ea typeface="+mn-lt"/>
                <a:cs typeface="+mn-lt"/>
              </a:rPr>
              <a:t>feature</a:t>
            </a:r>
            <a:endParaRPr lang="fr-FR" sz="1600" b="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fichier / classe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Le contenu de la solution </a:t>
            </a:r>
            <a:r>
              <a:rPr lang="fr-FR" sz="1600" b="0" dirty="0" err="1">
                <a:ea typeface="+mn-lt"/>
                <a:cs typeface="+mn-lt"/>
              </a:rPr>
              <a:t>VisualStudio</a:t>
            </a:r>
            <a:r>
              <a:rPr lang="fr-FR" sz="1600" b="0" dirty="0">
                <a:ea typeface="+mn-lt"/>
                <a:cs typeface="+mn-lt"/>
              </a:rPr>
              <a:t> est sync avec les dossiers &amp; </a:t>
            </a:r>
            <a:r>
              <a:rPr lang="fr-FR" sz="1600" b="0">
                <a:ea typeface="+mn-lt"/>
                <a:cs typeface="+mn-lt"/>
              </a:rPr>
              <a:t>fichiers réels 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847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AE6FE-5EE5-CA1C-4DD0-B67C6A1974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7047271" cy="1638642"/>
          </a:xfrm>
          <a:prstGeom prst="roundRect">
            <a:avLst>
              <a:gd name="adj" fmla="val 11863"/>
            </a:avLst>
          </a:prstGeom>
        </p:spPr>
        <p:txBody>
          <a:bodyPr/>
          <a:lstStyle/>
          <a:p>
            <a:pPr marL="72000" indent="0" algn="ctr">
              <a:spcBef>
                <a:spcPts val="300"/>
              </a:spcBef>
              <a:buNone/>
            </a:pPr>
            <a:r>
              <a:rPr lang="fr-FR" dirty="0"/>
              <a:t>Stratégie de </a:t>
            </a:r>
            <a:r>
              <a:rPr lang="fr-FR" dirty="0" err="1"/>
              <a:t>sync</a:t>
            </a:r>
            <a:r>
              <a:rPr lang="fr-FR" dirty="0"/>
              <a:t> App-Api</a:t>
            </a:r>
          </a:p>
          <a:p>
            <a:pPr marL="360000" lvl="1" indent="0">
              <a:spcBef>
                <a:spcPts val="300"/>
              </a:spcBef>
              <a:buNone/>
            </a:pPr>
            <a:r>
              <a:rPr lang="fr-FR" dirty="0">
                <a:ea typeface="+mn-lt"/>
                <a:cs typeface="+mn-lt"/>
              </a:rPr>
              <a:t>Optimiste. </a:t>
            </a:r>
            <a:r>
              <a:rPr lang="fr-FR" b="0" dirty="0">
                <a:ea typeface="+mn-lt"/>
                <a:cs typeface="+mn-lt"/>
              </a:rPr>
              <a:t>Maj Ui avant rep Api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+ Sur. </a:t>
            </a:r>
            <a:r>
              <a:rPr lang="fr-FR" b="0" dirty="0">
                <a:ea typeface="+mn-lt"/>
                <a:cs typeface="+mn-lt"/>
              </a:rPr>
              <a:t>Maj Ui quand Api a répondu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Choisir selon la sensibilité de l’info (coordonnée fusée vs nom user)</a:t>
            </a:r>
            <a:endParaRPr lang="en-US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 | Commun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9E7F5667-2B5E-8238-34C4-F2DF22D4244A}"/>
              </a:ext>
            </a:extLst>
          </p:cNvPr>
          <p:cNvSpPr txBox="1">
            <a:spLocks/>
          </p:cNvSpPr>
          <p:nvPr/>
        </p:nvSpPr>
        <p:spPr>
          <a:xfrm>
            <a:off x="838199" y="2877290"/>
            <a:ext cx="3527324" cy="1441767"/>
          </a:xfrm>
          <a:prstGeom prst="roundRect">
            <a:avLst>
              <a:gd name="adj" fmla="val 125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Environnement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Les Env. Dev, Int, Acc, Prd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Identifier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d’execution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Activer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traitement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spécifique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selon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18433FD8-548A-1799-E7E9-FBAE9585647C}"/>
              </a:ext>
            </a:extLst>
          </p:cNvPr>
          <p:cNvSpPr txBox="1">
            <a:spLocks/>
          </p:cNvSpPr>
          <p:nvPr/>
        </p:nvSpPr>
        <p:spPr>
          <a:xfrm>
            <a:off x="4552336" y="2876606"/>
            <a:ext cx="3274143" cy="3101995"/>
          </a:xfrm>
          <a:prstGeom prst="roundRect">
            <a:avLst>
              <a:gd name="adj" fmla="val 887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Logging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Ecrire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l’execution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du code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permettant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alalyse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cas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dysfonctionnement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Gérer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niveaux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log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plusieurs supports d’écriture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Kibana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File, Console)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AFD2BC4-3D21-EE08-C10D-A69D377131AA}"/>
              </a:ext>
            </a:extLst>
          </p:cNvPr>
          <p:cNvSpPr txBox="1">
            <a:spLocks/>
          </p:cNvSpPr>
          <p:nvPr/>
        </p:nvSpPr>
        <p:spPr>
          <a:xfrm>
            <a:off x="838200" y="4473678"/>
            <a:ext cx="3527324" cy="150492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ErrorHandling.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Que fait le program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lorsqu’il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rencontre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Quel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type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Metier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/ Technique), quell format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d’émission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(Exception, Http Error)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4EFE48E-9585-259B-851B-60DCCA8F6F10}"/>
              </a:ext>
            </a:extLst>
          </p:cNvPr>
          <p:cNvSpPr txBox="1">
            <a:spLocks/>
          </p:cNvSpPr>
          <p:nvPr/>
        </p:nvSpPr>
        <p:spPr>
          <a:xfrm>
            <a:off x="8061226" y="4038462"/>
            <a:ext cx="3219547" cy="1940139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DataModeling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Entity.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dans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base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donnée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Dto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transfert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inter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système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Préférer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la composition à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l’heritage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200" b="0" dirty="0"/>
              <a:t>Identifiant d’un objet : un Id, type 'string’ Vs « </a:t>
            </a:r>
            <a:r>
              <a:rPr lang="fr-FR" sz="1200" b="0" dirty="0" err="1"/>
              <a:t>Guid</a:t>
            </a:r>
            <a:r>
              <a:rPr lang="fr-FR" sz="1200" b="0" dirty="0"/>
              <a:t> » Vs « </a:t>
            </a:r>
            <a:r>
              <a:rPr lang="fr-FR" sz="1200" b="0" dirty="0" err="1"/>
              <a:t>Number</a:t>
            </a:r>
            <a:r>
              <a:rPr lang="fr-FR" sz="1200" b="0" dirty="0"/>
              <a:t> » ?</a:t>
            </a:r>
            <a:br>
              <a:rPr lang="en-US" sz="1200" dirty="0"/>
            </a:b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E57FA8B-662D-8680-8708-D0A275A0DD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1227" y="1089499"/>
            <a:ext cx="3219547" cy="163864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Validation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85A2950-1AE5-0212-6E63-66B7604EE028}"/>
              </a:ext>
            </a:extLst>
          </p:cNvPr>
          <p:cNvSpPr txBox="1">
            <a:spLocks/>
          </p:cNvSpPr>
          <p:nvPr/>
        </p:nvSpPr>
        <p:spPr>
          <a:xfrm>
            <a:off x="8061227" y="2833700"/>
            <a:ext cx="3219547" cy="109920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Configuration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681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11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1078451-11F9-0E15-718A-3CF3E289D8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App.Specific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Ui.Components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.</a:t>
            </a:r>
            <a:endParaRPr lang="fr-FR" sz="2000" b="0" dirty="0">
              <a:solidFill>
                <a:schemeClr val="tx2"/>
              </a:solidFill>
              <a:ea typeface="+mn-lt"/>
              <a:cs typeface="+mn-lt"/>
            </a:endParaRPr>
          </a:p>
          <a:p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8E4BF1B-F213-B512-4881-8884F34B53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Api.Specific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Http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–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Delete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204,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Get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200, Put</a:t>
            </a:r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Definition.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SwaggerUi / SwaggerGen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Endpoints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ea typeface="+mn-lt"/>
                <a:cs typeface="+mn-lt"/>
              </a:rPr>
              <a:t>Tout ce qui est créé/modifié doit être retournée (Pourquoi ?)</a:t>
            </a:r>
            <a:endParaRPr lang="en-US" dirty="0"/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8052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3776</TotalTime>
  <Words>690</Words>
  <Application>Microsoft Office PowerPoint</Application>
  <PresentationFormat>Widescreen</PresentationFormat>
  <Paragraphs>235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Allumi Ptf</vt:lpstr>
      <vt:lpstr>Arial</vt:lpstr>
      <vt:lpstr>Calibri</vt:lpstr>
      <vt:lpstr>KGT_PPT_Theme_New</vt:lpstr>
      <vt:lpstr>Architecture</vt:lpstr>
      <vt:lpstr>Sommaire</vt:lpstr>
      <vt:lpstr>Architecture</vt:lpstr>
      <vt:lpstr>Type</vt:lpstr>
      <vt:lpstr>MVC (Detailed)</vt:lpstr>
      <vt:lpstr>Micro Front-End</vt:lpstr>
      <vt:lpstr>SOAP vs. REST</vt:lpstr>
      <vt:lpstr>Components</vt:lpstr>
      <vt:lpstr>Clean Architecture</vt:lpstr>
      <vt:lpstr>App &amp; Api | Commun</vt:lpstr>
      <vt:lpstr>App &amp; Api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851</cp:revision>
  <dcterms:created xsi:type="dcterms:W3CDTF">2021-05-30T21:09:19Z</dcterms:created>
  <dcterms:modified xsi:type="dcterms:W3CDTF">2025-04-23T17:08:15Z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