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730_D6F4E173.xml" ContentType="application/vnd.ms-powerpoint.comments+xml"/>
  <Override PartName="/ppt/comments/modernComment_743_3DDD73F7.xml" ContentType="application/vnd.ms-powerpoint.comments+xml"/>
  <Override PartName="/ppt/comments/modernComment_742_E36EAFE2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30"/>
  </p:notesMasterIdLst>
  <p:handoutMasterIdLst>
    <p:handoutMasterId r:id="rId31"/>
  </p:handoutMasterIdLst>
  <p:sldIdLst>
    <p:sldId id="257" r:id="rId5"/>
    <p:sldId id="1755" r:id="rId6"/>
    <p:sldId id="1836" r:id="rId7"/>
    <p:sldId id="1853" r:id="rId8"/>
    <p:sldId id="1851" r:id="rId9"/>
    <p:sldId id="1841" r:id="rId10"/>
    <p:sldId id="1840" r:id="rId11"/>
    <p:sldId id="1855" r:id="rId12"/>
    <p:sldId id="1842" r:id="rId13"/>
    <p:sldId id="1859" r:id="rId14"/>
    <p:sldId id="1858" r:id="rId15"/>
    <p:sldId id="1838" r:id="rId16"/>
    <p:sldId id="1716" r:id="rId17"/>
    <p:sldId id="1849" r:id="rId18"/>
    <p:sldId id="1848" r:id="rId19"/>
    <p:sldId id="1847" r:id="rId20"/>
    <p:sldId id="1839" r:id="rId21"/>
    <p:sldId id="1837" r:id="rId22"/>
    <p:sldId id="1726" r:id="rId23"/>
    <p:sldId id="1846" r:id="rId24"/>
    <p:sldId id="1850" r:id="rId25"/>
    <p:sldId id="1856" r:id="rId26"/>
    <p:sldId id="1857" r:id="rId27"/>
    <p:sldId id="1789" r:id="rId28"/>
    <p:sldId id="1845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</p14:sldIdLst>
        </p14:section>
        <p14:section name=".NET" id="{3C72A597-38AE-40A6-B238-92D739BCADE3}">
          <p14:sldIdLst>
            <p14:sldId id="1836"/>
            <p14:sldId id="1853"/>
            <p14:sldId id="1851"/>
            <p14:sldId id="1841"/>
            <p14:sldId id="1840"/>
            <p14:sldId id="1855"/>
            <p14:sldId id="1842"/>
            <p14:sldId id="1859"/>
            <p14:sldId id="1858"/>
          </p14:sldIdLst>
        </p14:section>
        <p14:section name="Angular" id="{A7FC1A8E-598F-4032-B825-FE284B83A301}">
          <p14:sldIdLst>
            <p14:sldId id="1838"/>
            <p14:sldId id="1716"/>
            <p14:sldId id="1849"/>
            <p14:sldId id="1848"/>
            <p14:sldId id="1847"/>
            <p14:sldId id="1839"/>
          </p14:sldIdLst>
        </p14:section>
        <p14:section name="Web" id="{ECF2404C-5413-4661-A8D1-5CA72C41BCB8}">
          <p14:sldIdLst>
            <p14:sldId id="1837"/>
            <p14:sldId id="1726"/>
            <p14:sldId id="1846"/>
            <p14:sldId id="1850"/>
          </p14:sldIdLst>
        </p14:section>
        <p14:section name="Database" id="{A03915B6-429C-48E8-865D-E21A8D6CDBB4}">
          <p14:sldIdLst>
            <p14:sldId id="1856"/>
            <p14:sldId id="1857"/>
          </p14:sldIdLst>
        </p14:section>
        <p14:section name="Annexe" id="{CF3F04AB-7D1E-4581-9149-F795ADC87016}">
          <p14:sldIdLst>
            <p14:sldId id="1789"/>
            <p14:sldId id="184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01" autoAdjust="0"/>
    <p:restoredTop sz="94660"/>
  </p:normalViewPr>
  <p:slideViewPr>
    <p:cSldViewPr snapToGrid="0">
      <p:cViewPr>
        <p:scale>
          <a:sx n="75" d="100"/>
          <a:sy n="75" d="100"/>
        </p:scale>
        <p:origin x="11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35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comments/modernComment_730_D6F4E1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605B901-D66C-4B12-AFCD-E15AA54AD5C3}" authorId="{FD341820-5CC1-30A7-C59F-9FF8CBD05A90}" created="2023-08-27T09:04:23.2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06372723" sldId="1840"/>
      <ac:spMk id="23" creationId="{A855947F-88DF-F5BD-E615-2A84B2472EC9}"/>
    </ac:deMkLst>
    <p188:txBody>
      <a:bodyPr/>
      <a:lstStyle/>
      <a:p>
        <a:r>
          <a:rPr lang="en-US"/>
          <a:t>'state with { change }’ ~= Js {...spread, x:change}</a:t>
        </a:r>
      </a:p>
    </p188:txBody>
  </p188:cm>
</p188:cmLst>
</file>

<file path=ppt/comments/modernComment_742_E36EAFE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200DE5F-1FCB-4CE2-B9FA-9493B4D1DFA7}" authorId="{FD341820-5CC1-30A7-C59F-9FF8CBD05A90}" created="2025-04-28T16:30:45.98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4" creationId="{98C073C5-9EE8-F78F-8BE1-9D0A2DE3458A}"/>
      <ac:txMk cp="136" len="36">
        <ac:context len="297" hash="965585115"/>
      </ac:txMk>
    </ac:txMkLst>
    <p188:pos x="3269378" y="1009536"/>
    <p188:txBody>
      <a:bodyPr/>
      <a:lstStyle/>
      <a:p>
        <a:r>
          <a:rPr lang="en-GB"/>
          <a:t>Need to be called by subclasses</a:t>
        </a:r>
      </a:p>
    </p188:txBody>
  </p188:cm>
  <p188:cm id="{9F351621-9DCE-43C8-BBAC-980248D0D2CC}" authorId="{FD341820-5CC1-30A7-C59F-9FF8CBD05A90}" created="2025-04-28T17:50:45.92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23" creationId="{5D1262F3-FD95-5FD4-7C22-729A76B4C3C6}"/>
      <ac:txMk cp="10" len="28">
        <ac:context len="121" hash="2169508777"/>
      </ac:txMk>
    </ac:txMkLst>
    <p188:pos x="2809241" y="525941"/>
    <p188:txBody>
      <a:bodyPr/>
      <a:lstStyle/>
      <a:p>
        <a:r>
          <a:rPr lang="en-GB"/>
          <a:t>Concrete methods allow for default implementation</a:t>
        </a:r>
      </a:p>
    </p188:txBody>
  </p188:cm>
</p188:cmLst>
</file>

<file path=ppt/comments/modernComment_743_3DDD73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9DA6F30-33C6-4F9F-BB02-BED1B6E72103}" authorId="{FD341820-5CC1-30A7-C59F-9FF8CBD05A90}" created="2025-04-23T17:39:27.2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23" creationId="{10685533-9F4F-359A-17D9-F66F0BA4F7B9}"/>
    </ac:deMkLst>
    <p188:txBody>
      <a:bodyPr/>
      <a:lstStyle/>
      <a:p>
        <a:r>
          <a:rPr lang="en-GB"/>
          <a:t>'state with { change }’ ~= Js {...spread, x:change}</a:t>
        </a:r>
      </a:p>
    </p188:txBody>
  </p188:cm>
  <p188:cm id="{153E6A32-A0CA-4CC4-B97C-D74AA9D6C760}" authorId="{FD341820-5CC1-30A7-C59F-9FF8CBD05A90}" created="2025-04-28T16:28:24.5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5" creationId="{3F288951-E720-5D6F-4376-EE82ADC885A7}"/>
      <ac:txMk cp="69" len="20">
        <ac:context len="157" hash="2549462282"/>
      </ac:txMk>
    </ac:txMkLst>
    <p188:pos x="2872023" y="999363"/>
    <p188:txBody>
      <a:bodyPr/>
      <a:lstStyle/>
      <a:p>
        <a:r>
          <a:rPr lang="en-GB"/>
          <a:t>No duplicate in a HashSet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5D11B-0242-421F-A54B-8A2F6741ECD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947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o-project.com/doc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aspnet/core/blazor/components/data-binding?view=aspnetcore-6.0" TargetMode="External"/><Relationship Id="rId13" Type="http://schemas.openxmlformats.org/officeDocument/2006/relationships/hyperlink" Target="https://learn.microsoft.com/en-us/aspnet/core/blazor/fundamentals/routing?view=aspnetcore-7.0" TargetMode="External"/><Relationship Id="rId3" Type="http://schemas.openxmlformats.org/officeDocument/2006/relationships/hyperlink" Target="https://learn.microsoft.com/en-us/aspnet/core/web-api/action-return-types?view=aspnetcore-6.0" TargetMode="External"/><Relationship Id="rId7" Type="http://schemas.openxmlformats.org/officeDocument/2006/relationships/hyperlink" Target="https://blazor-university.com/templating-components-with-renderfragements/using-typeparam-to-create-generic-components/" TargetMode="External"/><Relationship Id="rId12" Type="http://schemas.openxmlformats.org/officeDocument/2006/relationships/hyperlink" Target="https://www.meziantou.net/css-isolation-in-blazor.htm" TargetMode="External"/><Relationship Id="rId2" Type="http://schemas.openxmlformats.org/officeDocument/2006/relationships/hyperlink" Target="https://learn.microsoft.com/en-us/aspnet/core/fundamentals/middleware/?view=aspnetcore-6.0" TargetMode="External"/><Relationship Id="rId16" Type="http://schemas.openxmlformats.org/officeDocument/2006/relationships/hyperlink" Target="https://learn.microsoft.com/en-us/aspnet/core/blazor/fundamentals/signalr?view=aspnetcore-7.0#server-side-circuit-handler-options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aspnet/core/blazor/components/lifecycle?view=aspnetcore-6.0" TargetMode="External"/><Relationship Id="rId11" Type="http://schemas.openxmlformats.org/officeDocument/2006/relationships/hyperlink" Target="https://www.neolisk.blog/posts/2020-05-18-blazor-style-encapsulation/" TargetMode="External"/><Relationship Id="rId5" Type="http://schemas.openxmlformats.org/officeDocument/2006/relationships/hyperlink" Target="https://learn.microsoft.com/en-us/aspnet/core/blazor/components/?view=aspnetcore-6.0" TargetMode="External"/><Relationship Id="rId15" Type="http://schemas.openxmlformats.org/officeDocument/2006/relationships/hyperlink" Target="https://learn.microsoft.com/en-us/aspnet/core/blazor/javascript-interoperability/?view=aspnetcore-6.0" TargetMode="External"/><Relationship Id="rId10" Type="http://schemas.openxmlformats.org/officeDocument/2006/relationships/hyperlink" Target="https://learn.microsoft.com/en-us/aspnet/core/blazor/components/templated-components?view=aspnetcore-7.0" TargetMode="External"/><Relationship Id="rId4" Type="http://schemas.openxmlformats.org/officeDocument/2006/relationships/hyperlink" Target="https://github.com/domaindrivendev/Swashbuckle.AspNetCore/issues/1497" TargetMode="External"/><Relationship Id="rId9" Type="http://schemas.openxmlformats.org/officeDocument/2006/relationships/hyperlink" Target="https://learn.microsoft.com/en-us/aspnet/core/blazor/components/event-handling?view=aspnetcore-6.0" TargetMode="External"/><Relationship Id="rId14" Type="http://schemas.openxmlformats.org/officeDocument/2006/relationships/hyperlink" Target="https://code-maze.com/blazor-routing-page-directive-navigation-manager-nav-links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aspnet/core/fundamentals/http-requests?view=aspnetcore-7.0" TargetMode="External"/><Relationship Id="rId13" Type="http://schemas.openxmlformats.org/officeDocument/2006/relationships/hyperlink" Target="https://www.nuget.org/packages/automapper/" TargetMode="External"/><Relationship Id="rId18" Type="http://schemas.openxmlformats.org/officeDocument/2006/relationships/hyperlink" Target="https://docs.automapper.org/en/stable/Lists-and-arrays.html" TargetMode="External"/><Relationship Id="rId3" Type="http://schemas.openxmlformats.org/officeDocument/2006/relationships/hyperlink" Target="https://learn.microsoft.com/en-us/dotnet/fundamentals/networking/http/httpclient-guidelines" TargetMode="External"/><Relationship Id="rId7" Type="http://schemas.openxmlformats.org/officeDocument/2006/relationships/hyperlink" Target="https://learn.microsoft.com/en-us/dotnet/core/extensions/httpclient-factory" TargetMode="External"/><Relationship Id="rId12" Type="http://schemas.openxmlformats.org/officeDocument/2006/relationships/hyperlink" Target="https://learn.microsoft.com/en-us/dotnet/csharp/linq/get-started/introduction-to-linq-queries" TargetMode="External"/><Relationship Id="rId17" Type="http://schemas.openxmlformats.org/officeDocument/2006/relationships/hyperlink" Target="https://docs.automapper.org/en/stable/Dependency-injection.html" TargetMode="External"/><Relationship Id="rId2" Type="http://schemas.microsoft.com/office/2018/10/relationships/comments" Target="../comments/modernComment_730_D6F4E173.xml"/><Relationship Id="rId16" Type="http://schemas.openxmlformats.org/officeDocument/2006/relationships/hyperlink" Target="https://docs.automapper.org/en/stable/Configuration.html#profile-instances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nuget.org/packages/Microsoft.Extensions.Http" TargetMode="External"/><Relationship Id="rId11" Type="http://schemas.openxmlformats.org/officeDocument/2006/relationships/hyperlink" Target="https://learn.microsoft.com/en-us/dotnet/api/system.datetime.date?view=net-6.0" TargetMode="External"/><Relationship Id="rId5" Type="http://schemas.openxmlformats.org/officeDocument/2006/relationships/hyperlink" Target="https://learn.microsoft.com/en-us/dotnet/architecture/microservices/implement-resilient-applications/use-httpclientfactory-to-implement-resilient-http-requests" TargetMode="External"/><Relationship Id="rId15" Type="http://schemas.openxmlformats.org/officeDocument/2006/relationships/hyperlink" Target="https://docs.automapper.org/en/stable/Getting-started.html" TargetMode="External"/><Relationship Id="rId10" Type="http://schemas.openxmlformats.org/officeDocument/2006/relationships/hyperlink" Target="https://developer.mozilla.org/en-US/docs/Web/HTTP/Status" TargetMode="External"/><Relationship Id="rId4" Type="http://schemas.openxmlformats.org/officeDocument/2006/relationships/hyperlink" Target="https://learn.microsoft.com/en-us/dotnet/csharp/tutorials/console-webapiclient" TargetMode="External"/><Relationship Id="rId9" Type="http://schemas.openxmlformats.org/officeDocument/2006/relationships/hyperlink" Target="https://learn.microsoft.com/en-us/aspnet/web-api/overview/advanced/httpclient-message-handlers" TargetMode="External"/><Relationship Id="rId14" Type="http://schemas.openxmlformats.org/officeDocument/2006/relationships/hyperlink" Target="https://www.nuget.org/packages/AutoMapper.Extensions.Microsoft.DependencyInject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managed-execution-process" TargetMode="External"/><Relationship Id="rId2" Type="http://schemas.openxmlformats.org/officeDocument/2006/relationships/hyperlink" Target="https://learn.microsoft.com/en-us/dotnet/standard/clr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dotnet/csharp/language-reference/operators/null-coalescing-operator" TargetMode="External"/><Relationship Id="rId7" Type="http://schemas.openxmlformats.org/officeDocument/2006/relationships/hyperlink" Target="https://learn.microsoft.com/fr-fr/dotnet/api/system.linq.enumerable.aggregate?view=net-7.0" TargetMode="External"/><Relationship Id="rId2" Type="http://schemas.microsoft.com/office/2018/10/relationships/comments" Target="../comments/modernComment_743_3DDD73F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dotnet/csharp/language-reference/builtin-types/built-in-types" TargetMode="External"/><Relationship Id="rId5" Type="http://schemas.openxmlformats.org/officeDocument/2006/relationships/hyperlink" Target="https://stackoverflow.com/questions/1100260/multiline-string-literal-in-c-sharp" TargetMode="External"/><Relationship Id="rId4" Type="http://schemas.openxmlformats.org/officeDocument/2006/relationships/hyperlink" Target="https://learn.microsoft.com/en-us/dotnet/csharp/asynchronous-programming/async-scenario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sharp/programming-guide/classes-and-structs/static-classes-and-static-class-members" TargetMode="External"/><Relationship Id="rId2" Type="http://schemas.microsoft.com/office/2018/10/relationships/comments" Target="../comments/modernComment_742_E36EAF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talkingdotnet.com/clean-way-to-add-swagger-asp-net-core-application/" TargetMode="External"/><Relationship Id="rId4" Type="http://schemas.openxmlformats.org/officeDocument/2006/relationships/hyperlink" Target="https://learn.microsoft.com/en-us/dotnet/csharp/programming-guide/classes-and-structs/extension-methods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ngular.io/api/common/NgIf" TargetMode="External"/><Relationship Id="rId2" Type="http://schemas.openxmlformats.org/officeDocument/2006/relationships/hyperlink" Target="https://angular.io/api/common/NgForOf" TargetMode="Externa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angular-versions-and-releases/" TargetMode="External"/><Relationship Id="rId2" Type="http://schemas.openxmlformats.org/officeDocument/2006/relationships/hyperlink" Target="https://angular.dev/essentials/signals" TargetMode="Externa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www.learnrxjs.io/learn-rxjs/operators" TargetMode="Externa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HTML/Reference" TargetMode="External"/><Relationship Id="rId2" Type="http://schemas.openxmlformats.org/officeDocument/2006/relationships/hyperlink" Target="https://validator.w3.org/" TargetMode="Externa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" TargetMode="External"/><Relationship Id="rId2" Type="http://schemas.openxmlformats.org/officeDocument/2006/relationships/hyperlink" Target="https://www.w3schools.com/css/css3_variables.asp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igsaw.w3.org/css-validator/" TargetMode="External"/><Relationship Id="rId5" Type="http://schemas.openxmlformats.org/officeDocument/2006/relationships/hyperlink" Target="https://stylus-lang.com/" TargetMode="External"/><Relationship Id="rId4" Type="http://schemas.openxmlformats.org/officeDocument/2006/relationships/hyperlink" Target="https://lesscss.org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28150967/typescript-cloning-object" TargetMode="Externa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NSREdpBfplw&amp;ab_channel=25msr" TargetMode="Externa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getbootstrap.com/docs/3.4/getting-started/" TargetMode="External"/><Relationship Id="rId3" Type="http://schemas.openxmlformats.org/officeDocument/2006/relationships/hyperlink" Target="https://sass-lang.com/guide" TargetMode="External"/><Relationship Id="rId7" Type="http://schemas.openxmlformats.org/officeDocument/2006/relationships/hyperlink" Target="https://valor-software.com/ngx-bootstrap/#/components" TargetMode="External"/><Relationship Id="rId2" Type="http://schemas.openxmlformats.org/officeDocument/2006/relationships/hyperlink" Target="https://lesscss.org/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s.devexpress.com/Documentation/Guide/Angular_Components/Getting_Started/Add_DevExtreme_to_an_Angular_CLI_Application/" TargetMode="External"/><Relationship Id="rId11" Type="http://schemas.openxmlformats.org/officeDocument/2006/relationships/hyperlink" Target="https://ionicframework.com/docs/components" TargetMode="External"/><Relationship Id="rId5" Type="http://schemas.openxmlformats.org/officeDocument/2006/relationships/hyperlink" Target="https://postcss.org/" TargetMode="External"/><Relationship Id="rId10" Type="http://schemas.openxmlformats.org/officeDocument/2006/relationships/hyperlink" Target="https://www.syncfusion.com/" TargetMode="External"/><Relationship Id="rId4" Type="http://schemas.openxmlformats.org/officeDocument/2006/relationships/hyperlink" Target="https://stylus-lang.com/" TargetMode="External"/><Relationship Id="rId9" Type="http://schemas.openxmlformats.org/officeDocument/2006/relationships/hyperlink" Target="https://bulma.io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en-US" noProof="0" dirty="0"/>
              <a:t>Technology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en-US" sz="2400" noProof="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0" y="2228295"/>
            <a:ext cx="8890907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.NET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Angular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Web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 err="1">
                <a:cs typeface="Arial"/>
              </a:rPr>
              <a:t>Database</a:t>
            </a:r>
            <a:endParaRPr lang="fr-FR" dirty="0">
              <a:cs typeface="Arial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fr-FR" dirty="0">
              <a:cs typeface="Arial"/>
            </a:endParaRPr>
          </a:p>
          <a:p>
            <a:r>
              <a:rPr lang="fr-FR" dirty="0">
                <a:cs typeface="Arial"/>
              </a:rPr>
              <a:t>Annexe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17035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BEF38-1277-C440-EDE6-76635DC2E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4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7D827-620C-8EBA-B835-6D84462E3D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CEE86-2B52-94DB-EFB7-62AA385D07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C5E36-DDF8-59F1-DDFE-58CF3D5AFAA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 Framework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E6E582F-9886-3E1A-FFB6-887674AC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Versions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F1232D-9050-7D36-07A9-38C3C613B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7904996A-F788-CD42-D025-0137A88B785A}"/>
              </a:ext>
            </a:extLst>
          </p:cNvPr>
          <p:cNvSpPr txBox="1">
            <a:spLocks/>
          </p:cNvSpPr>
          <p:nvPr/>
        </p:nvSpPr>
        <p:spPr>
          <a:xfrm>
            <a:off x="1005968" y="1584961"/>
            <a:ext cx="4866512" cy="741679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10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C7EB3174-87F0-A1DA-E2F2-A92BF9FFAB96}"/>
              </a:ext>
            </a:extLst>
          </p:cNvPr>
          <p:cNvSpPr txBox="1">
            <a:spLocks/>
          </p:cNvSpPr>
          <p:nvPr/>
        </p:nvSpPr>
        <p:spPr>
          <a:xfrm>
            <a:off x="1005968" y="247578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9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5CFB10B4-1B95-65BC-E38A-7C444AE26091}"/>
              </a:ext>
            </a:extLst>
          </p:cNvPr>
          <p:cNvSpPr txBox="1">
            <a:spLocks/>
          </p:cNvSpPr>
          <p:nvPr/>
        </p:nvSpPr>
        <p:spPr>
          <a:xfrm>
            <a:off x="6271659" y="1584961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4.8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Bonjour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1D749ABC-AB51-C75E-F501-32B20A57A400}"/>
              </a:ext>
            </a:extLst>
          </p:cNvPr>
          <p:cNvSpPr txBox="1">
            <a:spLocks/>
          </p:cNvSpPr>
          <p:nvPr/>
        </p:nvSpPr>
        <p:spPr>
          <a:xfrm>
            <a:off x="6271659" y="2791559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4.5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Implémente .NET Standard</a:t>
            </a: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D49CC0E6-1332-E333-1ED7-A3B71ED6FD3D}"/>
              </a:ext>
            </a:extLst>
          </p:cNvPr>
          <p:cNvSpPr txBox="1">
            <a:spLocks/>
          </p:cNvSpPr>
          <p:nvPr/>
        </p:nvSpPr>
        <p:spPr>
          <a:xfrm>
            <a:off x="1005968" y="327842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8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74201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91B6-506C-3E87-5345-0A6924EA4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2075EB-F9F1-4363-78BB-C2DC02232C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2" y="1089500"/>
            <a:ext cx="5773954" cy="2509106"/>
          </a:xfrm>
          <a:prstGeom prst="roundRect">
            <a:avLst>
              <a:gd name="adj" fmla="val 688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.NET 5+ (</a:t>
            </a:r>
            <a:r>
              <a:rPr lang="fr-FR" sz="1800" dirty="0" err="1"/>
              <a:t>Prev</a:t>
            </a:r>
            <a:r>
              <a:rPr lang="fr-FR" sz="1800" dirty="0"/>
              <a:t>. .NET Core)</a:t>
            </a:r>
            <a:endParaRPr lang="en-US" sz="18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8E58D0-C212-402B-F016-E3E4CD2BF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5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944FB15-652D-0B32-C793-ED233776CD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89B9F8-4E82-DB7C-DF68-0B5264260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/>
              <a:t>Overview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B780C4E2-B291-E284-2397-054D1CE5024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4760" y="1088691"/>
            <a:ext cx="4526013" cy="3414483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</a:t>
            </a:r>
            <a:r>
              <a:rPr lang="fr-FR" sz="1800" dirty="0"/>
              <a:t>.NET Framework</a:t>
            </a:r>
            <a:endParaRPr lang="fr-FR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9273DE6D-EFB1-5977-4991-89D65986E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9366229C-55C9-ABEE-C528-D4EFF33F3334}"/>
              </a:ext>
            </a:extLst>
          </p:cNvPr>
          <p:cNvSpPr txBox="1">
            <a:spLocks/>
          </p:cNvSpPr>
          <p:nvPr/>
        </p:nvSpPr>
        <p:spPr>
          <a:xfrm>
            <a:off x="3308591" y="3720758"/>
            <a:ext cx="3303565" cy="2226108"/>
          </a:xfrm>
          <a:prstGeom prst="roundRect">
            <a:avLst>
              <a:gd name="adj" fmla="val 110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ASP.NET</a:t>
            </a:r>
            <a:endParaRPr lang="fr-FR" sz="18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D29005E5-6181-26C8-0CEB-BF4374A632BD}"/>
              </a:ext>
            </a:extLst>
          </p:cNvPr>
          <p:cNvSpPr txBox="1">
            <a:spLocks/>
          </p:cNvSpPr>
          <p:nvPr/>
        </p:nvSpPr>
        <p:spPr>
          <a:xfrm>
            <a:off x="2868872" y="1502675"/>
            <a:ext cx="1679521" cy="1850125"/>
          </a:xfrm>
          <a:prstGeom prst="roundRect">
            <a:avLst>
              <a:gd name="adj" fmla="val 154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CLR, GC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CoreCLR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8DB447AC-76D6-778D-4BCE-C5EF27A35AAC}"/>
              </a:ext>
            </a:extLst>
          </p:cNvPr>
          <p:cNvSpPr txBox="1">
            <a:spLocks/>
          </p:cNvSpPr>
          <p:nvPr/>
        </p:nvSpPr>
        <p:spPr>
          <a:xfrm>
            <a:off x="9169405" y="1508621"/>
            <a:ext cx="1968765" cy="1254564"/>
          </a:xfrm>
          <a:prstGeom prst="roundRect">
            <a:avLst>
              <a:gd name="adj" fmla="val 1305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Library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43D8BBFE-1328-D20A-CE41-87FF8769945D}"/>
              </a:ext>
            </a:extLst>
          </p:cNvPr>
          <p:cNvSpPr txBox="1">
            <a:spLocks/>
          </p:cNvSpPr>
          <p:nvPr/>
        </p:nvSpPr>
        <p:spPr>
          <a:xfrm>
            <a:off x="9169405" y="2910842"/>
            <a:ext cx="1968765" cy="1484177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(4.x)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</a:p>
          <a:p>
            <a:pPr marL="287655" indent="-215900">
              <a:spcBef>
                <a:spcPts val="600"/>
              </a:spcBef>
            </a:pP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18">
            <a:extLst>
              <a:ext uri="{FF2B5EF4-FFF2-40B4-BE49-F238E27FC236}">
                <a16:creationId xmlns:a16="http://schemas.microsoft.com/office/drawing/2014/main" id="{4551A4CB-C9ED-C6FE-A72A-DE9DC5C85038}"/>
              </a:ext>
            </a:extLst>
          </p:cNvPr>
          <p:cNvSpPr txBox="1">
            <a:spLocks/>
          </p:cNvSpPr>
          <p:nvPr/>
        </p:nvSpPr>
        <p:spPr>
          <a:xfrm>
            <a:off x="838198" y="3720758"/>
            <a:ext cx="2327789" cy="2257034"/>
          </a:xfrm>
          <a:prstGeom prst="roundRect">
            <a:avLst>
              <a:gd name="adj" fmla="val 1159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Mono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Lightweight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! =&gt; Mobile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Xamarin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Deprecated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Unity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engine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games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B980743-F3E5-D860-145C-A0D1C37FD8E6}"/>
              </a:ext>
            </a:extLst>
          </p:cNvPr>
          <p:cNvSpPr txBox="1">
            <a:spLocks/>
          </p:cNvSpPr>
          <p:nvPr/>
        </p:nvSpPr>
        <p:spPr>
          <a:xfrm>
            <a:off x="4652120" y="1508683"/>
            <a:ext cx="1753858" cy="114436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2B6284EF-1472-91D6-4F5D-8DE8FEF7E904}"/>
              </a:ext>
            </a:extLst>
          </p:cNvPr>
          <p:cNvSpPr txBox="1">
            <a:spLocks/>
          </p:cNvSpPr>
          <p:nvPr/>
        </p:nvSpPr>
        <p:spPr>
          <a:xfrm>
            <a:off x="6898640" y="1502675"/>
            <a:ext cx="2128161" cy="2892344"/>
          </a:xfrm>
          <a:prstGeom prst="roundRect">
            <a:avLst>
              <a:gd name="adj" fmla="val 738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Best for Win° Desktop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Since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2002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Legacy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Vers° 1.0 to 4.8.1</a:t>
            </a:r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D303125A-BC6E-54A8-C5AC-D917DCBC9525}"/>
              </a:ext>
            </a:extLst>
          </p:cNvPr>
          <p:cNvSpPr txBox="1">
            <a:spLocks/>
          </p:cNvSpPr>
          <p:nvPr/>
        </p:nvSpPr>
        <p:spPr>
          <a:xfrm>
            <a:off x="6754760" y="4650832"/>
            <a:ext cx="4526014" cy="1296034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Presentation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Communication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</p:txBody>
      </p: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A8846A51-F21F-0009-C414-82C7E2233799}"/>
              </a:ext>
            </a:extLst>
          </p:cNvPr>
          <p:cNvSpPr txBox="1">
            <a:spLocks/>
          </p:cNvSpPr>
          <p:nvPr/>
        </p:nvSpPr>
        <p:spPr>
          <a:xfrm>
            <a:off x="1012905" y="1502675"/>
            <a:ext cx="1752240" cy="1850125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Multi-Platform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Ref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Implem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Vers°.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5 to 10</a:t>
            </a:r>
          </a:p>
        </p:txBody>
      </p:sp>
      <p:sp>
        <p:nvSpPr>
          <p:cNvPr id="22" name="Espace réservé du texte 9">
            <a:extLst>
              <a:ext uri="{FF2B5EF4-FFF2-40B4-BE49-F238E27FC236}">
                <a16:creationId xmlns:a16="http://schemas.microsoft.com/office/drawing/2014/main" id="{5446B2D3-7439-7C0B-7190-746A272E53EA}"/>
              </a:ext>
            </a:extLst>
          </p:cNvPr>
          <p:cNvSpPr txBox="1">
            <a:spLocks/>
          </p:cNvSpPr>
          <p:nvPr/>
        </p:nvSpPr>
        <p:spPr>
          <a:xfrm>
            <a:off x="4650895" y="2763185"/>
            <a:ext cx="1753858" cy="589615"/>
          </a:xfrm>
          <a:prstGeom prst="roundRect">
            <a:avLst>
              <a:gd name="adj" fmla="val 253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Language</a:t>
            </a:r>
            <a:endParaRPr lang="fr-FR" sz="14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C# / F# / VB</a:t>
            </a:r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3288778C-F723-5475-8CFC-3314F25E5D20}"/>
              </a:ext>
            </a:extLst>
          </p:cNvPr>
          <p:cNvSpPr txBox="1">
            <a:spLocks/>
          </p:cNvSpPr>
          <p:nvPr/>
        </p:nvSpPr>
        <p:spPr>
          <a:xfrm>
            <a:off x="4940708" y="4017789"/>
            <a:ext cx="1605449" cy="1884306"/>
          </a:xfrm>
          <a:prstGeom prst="roundRect">
            <a:avLst>
              <a:gd name="adj" fmla="val 995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3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Blazor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MVC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API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Razor Pages</a:t>
            </a:r>
          </a:p>
        </p:txBody>
      </p:sp>
      <p:sp>
        <p:nvSpPr>
          <p:cNvPr id="4" name="Espace réservé du texte 9">
            <a:extLst>
              <a:ext uri="{FF2B5EF4-FFF2-40B4-BE49-F238E27FC236}">
                <a16:creationId xmlns:a16="http://schemas.microsoft.com/office/drawing/2014/main" id="{9CE12931-130D-A28B-BCE4-403CF9B2699A}"/>
              </a:ext>
            </a:extLst>
          </p:cNvPr>
          <p:cNvSpPr txBox="1">
            <a:spLocks/>
          </p:cNvSpPr>
          <p:nvPr/>
        </p:nvSpPr>
        <p:spPr>
          <a:xfrm>
            <a:off x="3415707" y="4011781"/>
            <a:ext cx="1382398" cy="1014704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Framework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dedicated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to Web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2E6664D0-4DA3-D562-6846-87F667357E52}"/>
              </a:ext>
            </a:extLst>
          </p:cNvPr>
          <p:cNvSpPr txBox="1">
            <a:spLocks/>
          </p:cNvSpPr>
          <p:nvPr/>
        </p:nvSpPr>
        <p:spPr>
          <a:xfrm>
            <a:off x="3415706" y="5113045"/>
            <a:ext cx="1382398" cy="655455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XML</a:t>
            </a:r>
          </a:p>
        </p:txBody>
      </p:sp>
    </p:spTree>
    <p:extLst>
      <p:ext uri="{BB962C8B-B14F-4D97-AF65-F5344CB8AC3E}">
        <p14:creationId xmlns:p14="http://schemas.microsoft.com/office/powerpoint/2010/main" val="64844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15E4314-8522-26D1-DA83-D6669DA43D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39501"/>
          </a:xfrm>
          <a:prstGeom prst="roundRect">
            <a:avLst>
              <a:gd name="adj" fmla="val 802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2000" dirty="0"/>
              <a:t>.NET API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 – By Stack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D46EDD11-1EE5-499D-A4FC-29F62E48011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000" y="1088690"/>
            <a:ext cx="5184774" cy="4889102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.NET Blazor</a:t>
            </a:r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D0E59459-E94A-15E4-1BB9-C8566D2A637F}"/>
              </a:ext>
            </a:extLst>
          </p:cNvPr>
          <p:cNvSpPr txBox="1">
            <a:spLocks/>
          </p:cNvSpPr>
          <p:nvPr/>
        </p:nvSpPr>
        <p:spPr>
          <a:xfrm>
            <a:off x="1005968" y="1614097"/>
            <a:ext cx="2334008" cy="1579612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Middlewares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Filters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  <a:hlinkClick r:id="rId3"/>
              </a:rPr>
              <a:t>Controller Resp</a:t>
            </a:r>
            <a:r>
              <a:rPr lang="fr-FR" sz="1400" b="0" dirty="0">
                <a:ea typeface="+mn-lt"/>
                <a:cs typeface="+mn-lt"/>
              </a:rPr>
              <a:t> 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Services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AB83A71D-BD87-19E7-33AE-B9B36E0CC9E0}"/>
              </a:ext>
            </a:extLst>
          </p:cNvPr>
          <p:cNvSpPr txBox="1">
            <a:spLocks/>
          </p:cNvSpPr>
          <p:nvPr/>
        </p:nvSpPr>
        <p:spPr>
          <a:xfrm>
            <a:off x="3530526" y="1614096"/>
            <a:ext cx="1975800" cy="1617711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Api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Dtos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StartUp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Program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ConfigureService</a:t>
            </a:r>
          </a:p>
          <a:p>
            <a:pPr marL="575945" lvl="1" indent="-215900">
              <a:spcBef>
                <a:spcPts val="600"/>
              </a:spcBef>
            </a:pPr>
            <a:r>
              <a:rPr lang="fr-FR" sz="12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Service options</a:t>
            </a: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Configuration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1AE1B015-6A82-A366-3694-1B08489A2852}"/>
              </a:ext>
            </a:extLst>
          </p:cNvPr>
          <p:cNvSpPr txBox="1">
            <a:spLocks/>
          </p:cNvSpPr>
          <p:nvPr/>
        </p:nvSpPr>
        <p:spPr>
          <a:xfrm>
            <a:off x="6231338" y="1465006"/>
            <a:ext cx="2158074" cy="2556389"/>
          </a:xfrm>
          <a:prstGeom prst="roundRect">
            <a:avLst>
              <a:gd name="adj" fmla="val 72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Component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Overview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Syntax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Razor (@{})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6"/>
              </a:rPr>
              <a:t>Lifecycle</a:t>
            </a:r>
            <a:endParaRPr lang="fr-FR" sz="1400" b="0" dirty="0"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7"/>
              </a:rPr>
              <a:t>Type Genericity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8"/>
              </a:rPr>
              <a:t>Data Binding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Event Handling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/>
              </a:rPr>
              <a:t>Templated Component (=Content Projection)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1"/>
              </a:rPr>
              <a:t>Style Isolation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dirty="0">
                <a:ea typeface="+mn-lt"/>
                <a:cs typeface="+mn-lt"/>
                <a:hlinkClick r:id="rId12"/>
              </a:rPr>
              <a:t>Ex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C1D65B8C-90ED-CB95-2985-3CF88A354D4E}"/>
              </a:ext>
            </a:extLst>
          </p:cNvPr>
          <p:cNvSpPr txBox="1">
            <a:spLocks/>
          </p:cNvSpPr>
          <p:nvPr/>
        </p:nvSpPr>
        <p:spPr>
          <a:xfrm>
            <a:off x="8484154" y="1465006"/>
            <a:ext cx="2701877" cy="854736"/>
          </a:xfrm>
          <a:prstGeom prst="roundRect">
            <a:avLst>
              <a:gd name="adj" fmla="val 1728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Routing</a:t>
            </a:r>
            <a:endParaRPr lang="fr-FR" sz="160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dirty="0">
                <a:solidFill>
                  <a:schemeClr val="tx2"/>
                </a:solidFill>
                <a:hlinkClick r:id="rId13"/>
              </a:rPr>
              <a:t>Blazor</a:t>
            </a:r>
            <a:r>
              <a:rPr lang="en-US" sz="1400" b="0" dirty="0">
                <a:solidFill>
                  <a:schemeClr val="tx2"/>
                </a:solidFill>
              </a:rPr>
              <a:t> (Tutorial. </a:t>
            </a:r>
            <a:r>
              <a:rPr lang="fr-LU" sz="1400" dirty="0">
                <a:solidFill>
                  <a:schemeClr val="tx2"/>
                </a:solidFill>
                <a:hlinkClick r:id="rId14"/>
              </a:rPr>
              <a:t>Codemaze</a:t>
            </a:r>
            <a:r>
              <a:rPr lang="fr-LU" sz="1400" b="0" dirty="0">
                <a:solidFill>
                  <a:schemeClr val="tx2"/>
                </a:solidFill>
              </a:rPr>
              <a:t>)</a:t>
            </a:r>
            <a:endParaRPr lang="en-US" sz="1400" b="0" dirty="0">
              <a:solidFill>
                <a:schemeClr val="tx2"/>
              </a:solidFill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b="0" dirty="0">
                <a:solidFill>
                  <a:schemeClr val="tx2"/>
                </a:solidFill>
              </a:rPr>
              <a:t>Blazor </a:t>
            </a:r>
            <a:r>
              <a:rPr lang="fr-LU" sz="1400" b="0" dirty="0">
                <a:solidFill>
                  <a:schemeClr val="tx2"/>
                </a:solidFill>
              </a:rPr>
              <a:t>@page '&lt;route&gt;’</a:t>
            </a:r>
          </a:p>
        </p:txBody>
      </p:sp>
      <p:sp>
        <p:nvSpPr>
          <p:cNvPr id="20" name="Espace réservé du texte 9">
            <a:extLst>
              <a:ext uri="{FF2B5EF4-FFF2-40B4-BE49-F238E27FC236}">
                <a16:creationId xmlns:a16="http://schemas.microsoft.com/office/drawing/2014/main" id="{436E1811-4ABF-6294-B6E5-F9C7F6BCA097}"/>
              </a:ext>
            </a:extLst>
          </p:cNvPr>
          <p:cNvSpPr txBox="1">
            <a:spLocks/>
          </p:cNvSpPr>
          <p:nvPr/>
        </p:nvSpPr>
        <p:spPr>
          <a:xfrm>
            <a:off x="8502901" y="2467399"/>
            <a:ext cx="2683130" cy="1553996"/>
          </a:xfrm>
          <a:prstGeom prst="roundRect">
            <a:avLst>
              <a:gd name="adj" fmla="val 11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Pattern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Service Injection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@using &amp; _Import.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 err="1">
                <a:solidFill>
                  <a:schemeClr val="tx2"/>
                </a:solidFill>
                <a:ea typeface="+mn-lt"/>
                <a:cs typeface="+mn-lt"/>
                <a:hlinkClick r:id="rId15"/>
              </a:rPr>
              <a:t>JsInterop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Real Time Server To Client (SignalR)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D2D0BC6A-A482-7AA6-D48E-6B0E51FA93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2153520"/>
              </p:ext>
            </p:extLst>
          </p:nvPr>
        </p:nvGraphicFramePr>
        <p:xfrm>
          <a:off x="6209491" y="4436378"/>
          <a:ext cx="4976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6715">
                  <a:extLst>
                    <a:ext uri="{9D8B030D-6E8A-4147-A177-3AD203B41FA5}">
                      <a16:colId xmlns:a16="http://schemas.microsoft.com/office/drawing/2014/main" val="679383388"/>
                    </a:ext>
                  </a:extLst>
                </a:gridCol>
                <a:gridCol w="1772122">
                  <a:extLst>
                    <a:ext uri="{9D8B030D-6E8A-4147-A177-3AD203B41FA5}">
                      <a16:colId xmlns:a16="http://schemas.microsoft.com/office/drawing/2014/main" val="571413997"/>
                    </a:ext>
                  </a:extLst>
                </a:gridCol>
                <a:gridCol w="2157703">
                  <a:extLst>
                    <a:ext uri="{9D8B030D-6E8A-4147-A177-3AD203B41FA5}">
                      <a16:colId xmlns:a16="http://schemas.microsoft.com/office/drawing/2014/main" val="2410285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Web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629031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Page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Heavy1st load (Retrieve </a:t>
                      </a:r>
                      <a:r>
                        <a:rPr lang="en-US" sz="1000" dirty="0" err="1"/>
                        <a:t>Dll</a:t>
                      </a:r>
                      <a:r>
                        <a:rPr lang="en-US" sz="10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get page (Html / Css / Js)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915024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Through </a:t>
                      </a:r>
                      <a:r>
                        <a:rPr lang="en-US" sz="1000" b="1" u="sng" dirty="0"/>
                        <a:t>Api</a:t>
                      </a:r>
                      <a:r>
                        <a:rPr lang="en-US" sz="1000" b="0" u="none" dirty="0"/>
                        <a:t> (</a:t>
                      </a:r>
                      <a:r>
                        <a:rPr lang="en-US" sz="1000" b="1" u="none" dirty="0" err="1">
                          <a:highlight>
                            <a:srgbClr val="FFFF00"/>
                          </a:highlight>
                        </a:rPr>
                        <a:t>to_create</a:t>
                      </a:r>
                      <a:r>
                        <a:rPr lang="en-US" sz="1000" b="0" u="non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Direct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34824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Code Exe°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 client browser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51518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Server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on 1</a:t>
                      </a:r>
                      <a:r>
                        <a:rPr lang="en-US" sz="1000" baseline="30000" dirty="0"/>
                        <a:t>st</a:t>
                      </a:r>
                      <a:r>
                        <a:rPr lang="en-US" sz="1000" dirty="0"/>
                        <a:t> 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Client have a SignalR </a:t>
                      </a:r>
                      <a:r>
                        <a:rPr lang="en-US" sz="1000" dirty="0" err="1"/>
                        <a:t>connexion</a:t>
                      </a:r>
                      <a:r>
                        <a:rPr lang="en-US" sz="1000" dirty="0"/>
                        <a:t> with the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534700"/>
                  </a:ext>
                </a:extLst>
              </a:tr>
            </a:tbl>
          </a:graphicData>
        </a:graphic>
      </p:graphicFrame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6646D3B-5D5B-52D1-F15A-8930FA2E0904}"/>
              </a:ext>
            </a:extLst>
          </p:cNvPr>
          <p:cNvSpPr txBox="1">
            <a:spLocks/>
          </p:cNvSpPr>
          <p:nvPr/>
        </p:nvSpPr>
        <p:spPr>
          <a:xfrm>
            <a:off x="836539" y="3582077"/>
            <a:ext cx="5144311" cy="2395715"/>
          </a:xfrm>
          <a:prstGeom prst="roundRect">
            <a:avLst>
              <a:gd name="adj" fmla="val 828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.NET MVC</a:t>
            </a:r>
            <a:endParaRPr lang="en-US" dirty="0"/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8B6907BB-F722-2223-C250-13A32C71B750}"/>
              </a:ext>
            </a:extLst>
          </p:cNvPr>
          <p:cNvSpPr txBox="1">
            <a:spLocks/>
          </p:cNvSpPr>
          <p:nvPr/>
        </p:nvSpPr>
        <p:spPr>
          <a:xfrm>
            <a:off x="1005968" y="3990128"/>
            <a:ext cx="2022367" cy="1171807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Concepts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Model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Partial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endParaRPr lang="fr-FR" sz="1400" b="0" dirty="0"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5356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1CC5545-E710-066C-9659-D9AF720DD5A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8A72BCAC-A0BA-DF94-AC5D-611F5064BE7F}"/>
              </a:ext>
            </a:extLst>
          </p:cNvPr>
          <p:cNvSpPr txBox="1">
            <a:spLocks/>
          </p:cNvSpPr>
          <p:nvPr/>
        </p:nvSpPr>
        <p:spPr>
          <a:xfrm>
            <a:off x="6298441" y="4450800"/>
            <a:ext cx="3892040" cy="1425441"/>
          </a:xfrm>
          <a:prstGeom prst="roundRect">
            <a:avLst>
              <a:gd name="adj" fmla="val 11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600"/>
              </a:spcBef>
              <a:buNone/>
            </a:pP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Api Call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HttpClient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Exemple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HttpClientFactory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dirty="0">
                <a:hlinkClick r:id="rId6"/>
              </a:rPr>
              <a:t>Lib</a:t>
            </a:r>
            <a:r>
              <a:rPr lang="en-US" sz="1400" dirty="0">
                <a:solidFill>
                  <a:srgbClr val="2C11D0"/>
                </a:solidFill>
              </a:rPr>
              <a:t> </a:t>
            </a:r>
            <a:r>
              <a:rPr lang="fr-FR" sz="1400" dirty="0">
                <a:solidFill>
                  <a:schemeClr val="tx2"/>
                </a:solidFill>
              </a:rPr>
              <a:t>| </a:t>
            </a:r>
            <a:r>
              <a:rPr lang="en-US" sz="1400" dirty="0">
                <a:hlinkClick r:id="rId7"/>
              </a:rPr>
              <a:t>Learn1</a:t>
            </a:r>
            <a:r>
              <a:rPr lang="en-US" sz="1400" dirty="0"/>
              <a:t> </a:t>
            </a:r>
            <a:r>
              <a:rPr lang="fr-FR" sz="1400" dirty="0">
                <a:solidFill>
                  <a:schemeClr val="tx2"/>
                </a:solidFill>
              </a:rPr>
              <a:t>| </a:t>
            </a:r>
            <a:r>
              <a:rPr lang="en-US" sz="1400" dirty="0">
                <a:hlinkClick r:id="rId8"/>
              </a:rPr>
              <a:t>Learn2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Http Message Handler</a:t>
            </a:r>
            <a:r>
              <a:rPr lang="en-US" sz="1400" dirty="0">
                <a:solidFill>
                  <a:srgbClr val="2C11D0"/>
                </a:solidFill>
                <a:ea typeface="+mn-lt"/>
                <a:cs typeface="+mn-lt"/>
              </a:rPr>
              <a:t>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|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StatusCode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Json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Serialize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/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Deserialize</a:t>
            </a:r>
            <a:endParaRPr lang="fr-FR" sz="1400" dirty="0">
              <a:solidFill>
                <a:schemeClr val="tx2"/>
              </a:solidFill>
              <a:ea typeface="+mn-lt"/>
              <a:cs typeface="+mn-lt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BD30D5DD-4D58-5C0A-97A9-760A73672774}"/>
              </a:ext>
            </a:extLst>
          </p:cNvPr>
          <p:cNvSpPr txBox="1">
            <a:spLocks/>
          </p:cNvSpPr>
          <p:nvPr/>
        </p:nvSpPr>
        <p:spPr>
          <a:xfrm>
            <a:off x="9882935" y="1450635"/>
            <a:ext cx="1315690" cy="845441"/>
          </a:xfrm>
          <a:prstGeom prst="roundRect">
            <a:avLst>
              <a:gd name="adj" fmla="val 1510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</a:rPr>
              <a:t>Date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  <a:hlinkClick r:id="rId11"/>
              </a:rPr>
              <a:t>DateTime</a:t>
            </a:r>
            <a:endParaRPr lang="fr-FR" sz="1600" dirty="0">
              <a:ea typeface="+mn-lt"/>
              <a:cs typeface="+mn-lt"/>
            </a:endParaRPr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22556D7-44A9-6282-A0D7-3428F92654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199" y="2449153"/>
            <a:ext cx="5120138" cy="3529448"/>
          </a:xfrm>
          <a:prstGeom prst="roundRect">
            <a:avLst>
              <a:gd name="adj" fmla="val 6681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>
                <a:hlinkClick r:id="rId12"/>
              </a:rPr>
              <a:t>LINQ</a:t>
            </a:r>
            <a:endParaRPr lang="fr-FR" sz="1800" dirty="0"/>
          </a:p>
          <a:p>
            <a:pPr marL="292608" lvl="1" indent="-2159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2 </a:t>
            </a:r>
            <a:r>
              <a:rPr lang="fr-FR" sz="1600" b="0" dirty="0" err="1">
                <a:ea typeface="+mn-lt"/>
                <a:cs typeface="+mn-lt"/>
              </a:rPr>
              <a:t>Syntax</a:t>
            </a:r>
            <a:endParaRPr lang="fr-FR" sz="1600" b="0" dirty="0">
              <a:ea typeface="+mn-lt"/>
              <a:cs typeface="+mn-lt"/>
            </a:endParaRPr>
          </a:p>
          <a:p>
            <a:pPr marL="475200" lvl="2" indent="-182880">
              <a:spcBef>
                <a:spcPts val="600"/>
              </a:spcBef>
            </a:pPr>
            <a:r>
              <a:rPr lang="en-GB" dirty="0">
                <a:solidFill>
                  <a:schemeClr val="tx2"/>
                </a:solidFill>
                <a:ea typeface="+mn-ea"/>
                <a:cs typeface="+mn-cs"/>
              </a:rPr>
              <a:t>Method. </a:t>
            </a:r>
            <a:r>
              <a:rPr lang="en-GB" b="0" dirty="0" err="1">
                <a:solidFill>
                  <a:schemeClr val="tx2"/>
                </a:solidFill>
                <a:ea typeface="+mn-ea"/>
                <a:cs typeface="+mn-cs"/>
              </a:rPr>
              <a:t>collection.Operation</a:t>
            </a: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(x =&gt; </a:t>
            </a:r>
            <a:r>
              <a:rPr lang="en-GB" b="0" dirty="0" err="1">
                <a:solidFill>
                  <a:schemeClr val="tx2"/>
                </a:solidFill>
                <a:ea typeface="+mn-ea"/>
                <a:cs typeface="+mn-cs"/>
              </a:rPr>
              <a:t>x.Attr</a:t>
            </a: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)</a:t>
            </a:r>
          </a:p>
          <a:p>
            <a:pPr marL="475200" lvl="2" indent="-182880">
              <a:spcBef>
                <a:spcPts val="600"/>
              </a:spcBef>
            </a:pPr>
            <a:r>
              <a:rPr lang="en-GB" dirty="0">
                <a:solidFill>
                  <a:schemeClr val="tx2"/>
                </a:solidFill>
                <a:ea typeface="+mn-ea"/>
                <a:cs typeface="+mn-cs"/>
              </a:rPr>
              <a:t>Query.</a:t>
            </a: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 from item in collection operation </a:t>
            </a:r>
          </a:p>
          <a:p>
            <a:pPr marL="475200" lvl="2" indent="-182880">
              <a:spcBef>
                <a:spcPts val="600"/>
              </a:spcBef>
            </a:pP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Ex. (from </a:t>
            </a:r>
            <a:r>
              <a:rPr lang="en-GB" b="0" dirty="0" err="1">
                <a:solidFill>
                  <a:schemeClr val="tx2"/>
                </a:solidFill>
                <a:ea typeface="+mn-ea"/>
                <a:cs typeface="+mn-cs"/>
              </a:rPr>
              <a:t>num</a:t>
            </a: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 in numbers select </a:t>
            </a:r>
            <a:r>
              <a:rPr lang="en-GB" b="0" dirty="0" err="1">
                <a:solidFill>
                  <a:schemeClr val="tx2"/>
                </a:solidFill>
                <a:ea typeface="+mn-ea"/>
                <a:cs typeface="+mn-cs"/>
              </a:rPr>
              <a:t>num</a:t>
            </a:r>
            <a:r>
              <a:rPr lang="en-GB" b="0" dirty="0">
                <a:solidFill>
                  <a:schemeClr val="tx2"/>
                </a:solidFill>
                <a:ea typeface="+mn-ea"/>
                <a:cs typeface="+mn-cs"/>
              </a:rPr>
              <a:t>)</a:t>
            </a:r>
            <a:endParaRPr lang="fr-FR" sz="1200" dirty="0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DCAAF414-D3F2-8904-344E-EA305E9019E5}"/>
              </a:ext>
            </a:extLst>
          </p:cNvPr>
          <p:cNvSpPr txBox="1">
            <a:spLocks/>
          </p:cNvSpPr>
          <p:nvPr/>
        </p:nvSpPr>
        <p:spPr>
          <a:xfrm>
            <a:off x="8855764" y="2810289"/>
            <a:ext cx="2325615" cy="1538152"/>
          </a:xfrm>
          <a:prstGeom prst="roundRect">
            <a:avLst>
              <a:gd name="adj" fmla="val 77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highlight>
                  <a:srgbClr val="00FF00"/>
                </a:highlight>
                <a:ea typeface="+mn-lt"/>
                <a:cs typeface="+mn-lt"/>
              </a:rPr>
              <a:t>Mapping</a:t>
            </a:r>
            <a:endParaRPr lang="fr-FR" sz="1600" b="0" dirty="0">
              <a:solidFill>
                <a:schemeClr val="tx2"/>
              </a:solidFill>
              <a:highlight>
                <a:srgbClr val="00FF00"/>
              </a:highlight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Lib.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3"/>
              </a:rPr>
              <a:t>AutoMapper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4"/>
              </a:rPr>
              <a:t>DI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5"/>
              </a:rPr>
              <a:t>Learn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Conf ac Profile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  <a:hlinkClick r:id="rId17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7"/>
              </a:rPr>
              <a:t>Accessible par DI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8"/>
              </a:rPr>
              <a:t>Gérer les Collections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4" name="Espace réservé du texte 9">
            <a:extLst>
              <a:ext uri="{FF2B5EF4-FFF2-40B4-BE49-F238E27FC236}">
                <a16:creationId xmlns:a16="http://schemas.microsoft.com/office/drawing/2014/main" id="{EEE588AD-B139-AB73-8F9A-E3F815F367A9}"/>
              </a:ext>
            </a:extLst>
          </p:cNvPr>
          <p:cNvSpPr txBox="1">
            <a:spLocks/>
          </p:cNvSpPr>
          <p:nvPr/>
        </p:nvSpPr>
        <p:spPr>
          <a:xfrm>
            <a:off x="6141663" y="3125694"/>
            <a:ext cx="2542343" cy="1222747"/>
          </a:xfrm>
          <a:prstGeom prst="roundRect">
            <a:avLst>
              <a:gd name="adj" fmla="val 1264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/>
              <a:t>Service</a:t>
            </a:r>
            <a:r>
              <a:rPr lang="en-US" sz="1600" dirty="0"/>
              <a:t> </a:t>
            </a:r>
          </a:p>
          <a:p>
            <a:pPr marL="288000" lvl="1" indent="-216000">
              <a:spcBef>
                <a:spcPts val="300"/>
              </a:spcBef>
            </a:pPr>
            <a:r>
              <a:rPr lang="en-US" sz="1400" dirty="0">
                <a:ea typeface="+mn-lt"/>
                <a:cs typeface="+mn-lt"/>
              </a:rPr>
              <a:t>Output. </a:t>
            </a:r>
            <a:r>
              <a:rPr lang="en-US" sz="1400" dirty="0" err="1">
                <a:ea typeface="+mn-lt"/>
                <a:cs typeface="+mn-lt"/>
              </a:rPr>
              <a:t>IEnumerable</a:t>
            </a:r>
            <a:endParaRPr lang="en-US" sz="1400" dirty="0">
              <a:ea typeface="+mn-lt"/>
              <a:cs typeface="+mn-lt"/>
            </a:endParaRPr>
          </a:p>
          <a:p>
            <a:pPr marL="360000" lvl="3" indent="-216000">
              <a:spcBef>
                <a:spcPts val="300"/>
              </a:spcBef>
            </a:pPr>
            <a:r>
              <a:rPr lang="fr-LU" sz="1200" dirty="0">
                <a:ea typeface="+mn-lt"/>
                <a:cs typeface="+mn-lt"/>
              </a:rPr>
              <a:t>déporter la gestion de l'</a:t>
            </a:r>
            <a:r>
              <a:rPr lang="fr-LU" sz="1200" dirty="0" err="1">
                <a:ea typeface="+mn-lt"/>
                <a:cs typeface="+mn-lt"/>
              </a:rPr>
              <a:t>exé</a:t>
            </a:r>
            <a:r>
              <a:rPr lang="fr-LU" sz="1200" dirty="0">
                <a:ea typeface="+mn-lt"/>
                <a:cs typeface="+mn-lt"/>
              </a:rPr>
              <a:t> du côté framework</a:t>
            </a:r>
          </a:p>
          <a:p>
            <a:pPr marL="288000" lvl="2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Throughput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. List</a:t>
            </a:r>
            <a:endParaRPr lang="en-US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874EF87-7FEE-2D48-E3F0-1639F19ACFA6}"/>
              </a:ext>
            </a:extLst>
          </p:cNvPr>
          <p:cNvSpPr txBox="1">
            <a:spLocks/>
          </p:cNvSpPr>
          <p:nvPr/>
        </p:nvSpPr>
        <p:spPr>
          <a:xfrm>
            <a:off x="838199" y="1089499"/>
            <a:ext cx="5120138" cy="1206577"/>
          </a:xfrm>
          <a:prstGeom prst="roundRect">
            <a:avLst>
              <a:gd name="adj" fmla="val 1770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Technology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2000" dirty="0"/>
              <a:t>CLR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2000" dirty="0"/>
              <a:t>GC Garbage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F52B836F-68D4-0F34-9EF8-F4C032E714DA}"/>
              </a:ext>
            </a:extLst>
          </p:cNvPr>
          <p:cNvSpPr txBox="1">
            <a:spLocks/>
          </p:cNvSpPr>
          <p:nvPr/>
        </p:nvSpPr>
        <p:spPr>
          <a:xfrm>
            <a:off x="911226" y="4163942"/>
            <a:ext cx="3062702" cy="1709776"/>
          </a:xfrm>
          <a:prstGeom prst="roundRect">
            <a:avLst>
              <a:gd name="adj" fmla="val 1264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en-US" sz="1600" noProof="0" dirty="0"/>
              <a:t>Operation</a:t>
            </a:r>
            <a:endParaRPr lang="en-US" sz="1600" dirty="0"/>
          </a:p>
          <a:p>
            <a:pPr marL="292608" lvl="3" indent="-201168">
              <a:spcBef>
                <a:spcPts val="600"/>
              </a:spcBef>
            </a:pPr>
            <a:r>
              <a:rPr lang="en-US" sz="1400" b="1" dirty="0"/>
              <a:t>Select.</a:t>
            </a:r>
            <a:r>
              <a:rPr lang="en-US" sz="1400" dirty="0"/>
              <a:t> Projection</a:t>
            </a:r>
          </a:p>
          <a:p>
            <a:pPr marL="292608" lvl="3" indent="-201168">
              <a:spcBef>
                <a:spcPts val="600"/>
              </a:spcBef>
            </a:pPr>
            <a:r>
              <a:rPr lang="fr-LU" sz="1400" b="1" dirty="0"/>
              <a:t>Where. </a:t>
            </a:r>
            <a:r>
              <a:rPr lang="en-GB" sz="1400" dirty="0"/>
              <a:t>Filter on conditions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OrderBy. </a:t>
            </a:r>
            <a:r>
              <a:rPr lang="en-GB" sz="1400" dirty="0"/>
              <a:t>Sort (</a:t>
            </a:r>
            <a:r>
              <a:rPr lang="en-GB" sz="1400" dirty="0" err="1"/>
              <a:t>desc</a:t>
            </a:r>
            <a:r>
              <a:rPr lang="en-GB" sz="1400" dirty="0"/>
              <a:t>), </a:t>
            </a:r>
            <a:r>
              <a:rPr lang="en-GB" sz="1400" b="1" dirty="0"/>
              <a:t>ThenBy().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ForEach. </a:t>
            </a:r>
            <a:r>
              <a:rPr lang="en-GB" sz="1400" dirty="0"/>
              <a:t>Do for each </a:t>
            </a:r>
            <a:r>
              <a:rPr lang="en-GB" sz="1400" dirty="0" err="1"/>
              <a:t>elt</a:t>
            </a:r>
            <a:endParaRPr lang="en-GB" sz="1400" dirty="0"/>
          </a:p>
          <a:p>
            <a:pPr marL="292608" lvl="3" indent="-201168">
              <a:spcBef>
                <a:spcPts val="600"/>
              </a:spcBef>
            </a:pPr>
            <a:r>
              <a:rPr lang="en-GB" sz="1400" dirty="0" err="1"/>
              <a:t>ToList</a:t>
            </a:r>
            <a:r>
              <a:rPr lang="en-GB" sz="1400" dirty="0"/>
              <a:t>(), </a:t>
            </a:r>
            <a:r>
              <a:rPr lang="en-GB" sz="1400" dirty="0" err="1"/>
              <a:t>ToArray</a:t>
            </a:r>
            <a:r>
              <a:rPr lang="en-GB" sz="1400" dirty="0"/>
              <a:t>()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063727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3A73C-30AA-F31B-6F03-4B87F10B5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0B158-4D1E-5D95-7F6C-20AA8331DB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1DBC76-B682-6CB3-1D21-FB2D7783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execution in CLR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60A40-E64C-2DA2-1A58-ADC39B548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301383A6-D5FA-6306-2FBE-E72DC5657FE8}"/>
              </a:ext>
            </a:extLst>
          </p:cNvPr>
          <p:cNvSpPr txBox="1">
            <a:spLocks/>
          </p:cNvSpPr>
          <p:nvPr/>
        </p:nvSpPr>
        <p:spPr>
          <a:xfrm>
            <a:off x="521111" y="2893514"/>
            <a:ext cx="1711098" cy="786335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Source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C# / F# / VB</a:t>
            </a:r>
            <a:endParaRPr lang="fr-FR" dirty="0"/>
          </a:p>
        </p:txBody>
      </p:sp>
      <p:sp>
        <p:nvSpPr>
          <p:cNvPr id="6" name="Espace réservé du texte 7">
            <a:extLst>
              <a:ext uri="{FF2B5EF4-FFF2-40B4-BE49-F238E27FC236}">
                <a16:creationId xmlns:a16="http://schemas.microsoft.com/office/drawing/2014/main" id="{04FC117B-0DAE-6C54-EBBE-FB3F33D9F577}"/>
              </a:ext>
            </a:extLst>
          </p:cNvPr>
          <p:cNvSpPr txBox="1">
            <a:spLocks/>
          </p:cNvSpPr>
          <p:nvPr/>
        </p:nvSpPr>
        <p:spPr>
          <a:xfrm>
            <a:off x="3878802" y="2625952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CIL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Managed c</a:t>
            </a:r>
            <a:r>
              <a:rPr lang="fr-FR" sz="1400" dirty="0"/>
              <a:t>ode)</a:t>
            </a:r>
            <a:endParaRPr lang="fr-FR" sz="1600" dirty="0"/>
          </a:p>
        </p:txBody>
      </p:sp>
      <p:sp>
        <p:nvSpPr>
          <p:cNvPr id="7" name="Espace réservé du texte 7">
            <a:extLst>
              <a:ext uri="{FF2B5EF4-FFF2-40B4-BE49-F238E27FC236}">
                <a16:creationId xmlns:a16="http://schemas.microsoft.com/office/drawing/2014/main" id="{8495C078-7A09-085D-1728-21B2F4A097D6}"/>
              </a:ext>
            </a:extLst>
          </p:cNvPr>
          <p:cNvSpPr txBox="1">
            <a:spLocks/>
          </p:cNvSpPr>
          <p:nvPr/>
        </p:nvSpPr>
        <p:spPr>
          <a:xfrm>
            <a:off x="3878802" y="3426763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Metadata</a:t>
            </a:r>
            <a:endParaRPr lang="fr-FR" sz="1800" dirty="0"/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types, members, ref…)</a:t>
            </a:r>
            <a:endParaRPr lang="fr-FR" sz="16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F5F2DA0-73D2-F219-913E-B108D89DC06B}"/>
              </a:ext>
            </a:extLst>
          </p:cNvPr>
          <p:cNvSpPr/>
          <p:nvPr/>
        </p:nvSpPr>
        <p:spPr>
          <a:xfrm>
            <a:off x="2232210" y="3102700"/>
            <a:ext cx="1509799" cy="324064"/>
          </a:xfrm>
          <a:prstGeom prst="rightArrow">
            <a:avLst>
              <a:gd name="adj1" fmla="val 50000"/>
              <a:gd name="adj2" fmla="val 7730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90321B46-A217-155B-C71B-8ECCF73688DA}"/>
              </a:ext>
            </a:extLst>
          </p:cNvPr>
          <p:cNvSpPr txBox="1">
            <a:spLocks/>
          </p:cNvSpPr>
          <p:nvPr/>
        </p:nvSpPr>
        <p:spPr>
          <a:xfrm>
            <a:off x="1593273" y="3842419"/>
            <a:ext cx="2015051" cy="893824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400" noProof="0" dirty="0">
                <a:solidFill>
                  <a:schemeClr val="tx2"/>
                </a:solidFill>
              </a:rPr>
              <a:t>Language</a:t>
            </a:r>
            <a:r>
              <a:rPr lang="fr-FR" sz="1400" dirty="0">
                <a:solidFill>
                  <a:schemeClr val="tx2"/>
                </a:solidFill>
              </a:rPr>
              <a:t>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Compilation AOT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0743B595-FEF1-451C-155C-70AF47958BA8}"/>
              </a:ext>
            </a:extLst>
          </p:cNvPr>
          <p:cNvSpPr txBox="1">
            <a:spLocks/>
          </p:cNvSpPr>
          <p:nvPr/>
        </p:nvSpPr>
        <p:spPr>
          <a:xfrm>
            <a:off x="6383737" y="3262640"/>
            <a:ext cx="2178404" cy="1473604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Compile CIL to Native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JIT .NET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Or AOT :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Ngen.exe (.NET Fram)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Crossgen2 (.NET6+)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32438B6-7717-1404-8561-A34124174E55}"/>
              </a:ext>
            </a:extLst>
          </p:cNvPr>
          <p:cNvSpPr/>
          <p:nvPr/>
        </p:nvSpPr>
        <p:spPr>
          <a:xfrm rot="20862080">
            <a:off x="5975085" y="2463729"/>
            <a:ext cx="1559086" cy="438798"/>
          </a:xfrm>
          <a:prstGeom prst="rightArrow">
            <a:avLst>
              <a:gd name="adj1" fmla="val 51967"/>
              <a:gd name="adj2" fmla="val 9523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AD3AC3D7-41C2-1C0B-9CB7-DADD0ED56130}"/>
              </a:ext>
            </a:extLst>
          </p:cNvPr>
          <p:cNvSpPr txBox="1">
            <a:spLocks/>
          </p:cNvSpPr>
          <p:nvPr/>
        </p:nvSpPr>
        <p:spPr>
          <a:xfrm>
            <a:off x="7563014" y="2239958"/>
            <a:ext cx="2638976" cy="729916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Native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Target Machine Archi</a:t>
            </a:r>
            <a:endParaRPr lang="fr-FR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F92F5F7D-84A7-ADF1-D278-EB8BAD3B3939}"/>
              </a:ext>
            </a:extLst>
          </p:cNvPr>
          <p:cNvSpPr txBox="1">
            <a:spLocks/>
          </p:cNvSpPr>
          <p:nvPr/>
        </p:nvSpPr>
        <p:spPr>
          <a:xfrm>
            <a:off x="3760724" y="2220183"/>
            <a:ext cx="2335276" cy="201247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Portable Exe (PE) File</a:t>
            </a:r>
            <a:endParaRPr lang="fr-FR" sz="1800" dirty="0"/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498E242E-8AB4-FB12-56FA-62DE38D20283}"/>
              </a:ext>
            </a:extLst>
          </p:cNvPr>
          <p:cNvSpPr txBox="1">
            <a:spLocks/>
          </p:cNvSpPr>
          <p:nvPr/>
        </p:nvSpPr>
        <p:spPr>
          <a:xfrm>
            <a:off x="6307440" y="3102014"/>
            <a:ext cx="5064372" cy="2822408"/>
          </a:xfrm>
          <a:prstGeom prst="roundRect">
            <a:avLst>
              <a:gd name="adj" fmla="val 82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b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CLR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533DFD-000C-AE7B-28A3-5ED8EA34DE9B}"/>
              </a:ext>
            </a:extLst>
          </p:cNvPr>
          <p:cNvCxnSpPr>
            <a:cxnSpLocks/>
            <a:stCxn id="12" idx="2"/>
            <a:endCxn id="10" idx="0"/>
          </p:cNvCxnSpPr>
          <p:nvPr/>
        </p:nvCxnSpPr>
        <p:spPr>
          <a:xfrm>
            <a:off x="7154716" y="2820457"/>
            <a:ext cx="318223" cy="44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408E3DF8-7CE0-37C7-CD52-60D244C0275F}"/>
              </a:ext>
            </a:extLst>
          </p:cNvPr>
          <p:cNvSpPr txBox="1">
            <a:spLocks/>
          </p:cNvSpPr>
          <p:nvPr/>
        </p:nvSpPr>
        <p:spPr>
          <a:xfrm>
            <a:off x="8631133" y="3226419"/>
            <a:ext cx="2638607" cy="2410938"/>
          </a:xfrm>
          <a:prstGeom prst="roundRect">
            <a:avLst>
              <a:gd name="adj" fmla="val 80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Services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Run Code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Garbage Collector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Type </a:t>
            </a:r>
            <a:r>
              <a:rPr lang="fr-FR" sz="1400" dirty="0" err="1"/>
              <a:t>safety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Exc</a:t>
            </a:r>
            <a:r>
              <a:rPr lang="fr-FR" sz="1400" dirty="0"/>
              <a:t>° Handling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Integration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Debugging</a:t>
            </a:r>
            <a:r>
              <a:rPr lang="fr-FR" sz="1400" dirty="0"/>
              <a:t> </a:t>
            </a:r>
            <a:r>
              <a:rPr lang="fr-FR" sz="1400" dirty="0" err="1"/>
              <a:t>capab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Custom </a:t>
            </a:r>
            <a:r>
              <a:rPr lang="fr-FR" sz="1400" dirty="0" err="1"/>
              <a:t>attr</a:t>
            </a:r>
            <a:r>
              <a:rPr lang="fr-FR" sz="1400" dirty="0"/>
              <a:t> / </a:t>
            </a:r>
            <a:r>
              <a:rPr lang="fr-FR" sz="1400" dirty="0" err="1"/>
              <a:t>inheritance</a:t>
            </a:r>
            <a:r>
              <a:rPr lang="fr-FR" sz="1400" dirty="0"/>
              <a:t>, interfaces…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7821D-A05A-5180-6E1F-54EC448EE86C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2600799" y="3426764"/>
            <a:ext cx="890686" cy="415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Espace réservé du texte 7">
            <a:extLst>
              <a:ext uri="{FF2B5EF4-FFF2-40B4-BE49-F238E27FC236}">
                <a16:creationId xmlns:a16="http://schemas.microsoft.com/office/drawing/2014/main" id="{293A29AB-031E-F365-8A54-B2D5BC8EFEF8}"/>
              </a:ext>
            </a:extLst>
          </p:cNvPr>
          <p:cNvSpPr txBox="1">
            <a:spLocks/>
          </p:cNvSpPr>
          <p:nvPr/>
        </p:nvSpPr>
        <p:spPr>
          <a:xfrm>
            <a:off x="1511596" y="4939570"/>
            <a:ext cx="2725124" cy="984852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Reference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  <a:hlinkClick r:id="rId2"/>
              </a:rPr>
              <a:t>CLR</a:t>
            </a:r>
            <a:endParaRPr lang="fr-FR" sz="140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  <a:hlinkClick r:id="rId3"/>
              </a:rPr>
              <a:t>Managed </a:t>
            </a:r>
            <a:r>
              <a:rPr lang="fr-FR" sz="1400" b="0" dirty="0" err="1">
                <a:solidFill>
                  <a:schemeClr val="tx2"/>
                </a:solidFill>
                <a:hlinkClick r:id="rId3"/>
              </a:rPr>
              <a:t>Execution</a:t>
            </a:r>
            <a:r>
              <a:rPr lang="fr-FR" sz="1400" b="0" dirty="0">
                <a:solidFill>
                  <a:schemeClr val="tx2"/>
                </a:solidFill>
                <a:hlinkClick r:id="rId3"/>
              </a:rPr>
              <a:t> Process</a:t>
            </a:r>
            <a:endParaRPr lang="fr-FR" sz="1400" b="0" dirty="0">
              <a:solidFill>
                <a:schemeClr val="tx2"/>
              </a:solidFill>
            </a:endParaRPr>
          </a:p>
        </p:txBody>
      </p:sp>
      <p:sp>
        <p:nvSpPr>
          <p:cNvPr id="26" name="Espace réservé du texte 7">
            <a:extLst>
              <a:ext uri="{FF2B5EF4-FFF2-40B4-BE49-F238E27FC236}">
                <a16:creationId xmlns:a16="http://schemas.microsoft.com/office/drawing/2014/main" id="{5251C8F1-A80B-1F5B-39CB-A382D8C12AE4}"/>
              </a:ext>
            </a:extLst>
          </p:cNvPr>
          <p:cNvSpPr txBox="1">
            <a:spLocks/>
          </p:cNvSpPr>
          <p:nvPr/>
        </p:nvSpPr>
        <p:spPr>
          <a:xfrm>
            <a:off x="6383737" y="4868384"/>
            <a:ext cx="2178404" cy="768973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 err="1">
                <a:solidFill>
                  <a:schemeClr val="tx2"/>
                </a:solidFill>
              </a:rPr>
              <a:t>Verificat</a:t>
            </a:r>
            <a:r>
              <a:rPr lang="fr-FR" sz="1400" b="0" dirty="0">
                <a:solidFill>
                  <a:schemeClr val="tx2"/>
                </a:solidFill>
              </a:rPr>
              <a:t>° Process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For </a:t>
            </a:r>
            <a:r>
              <a:rPr lang="fr-FR" sz="1400" b="0" dirty="0" err="1">
                <a:solidFill>
                  <a:schemeClr val="tx2"/>
                </a:solidFill>
              </a:rPr>
              <a:t>TypeSafety</a:t>
            </a:r>
            <a:endParaRPr lang="fr-FR" sz="1400" b="0" dirty="0">
              <a:solidFill>
                <a:schemeClr val="tx2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8C47A8-80DC-EDBC-D23B-1A4CA073B1DC}"/>
              </a:ext>
            </a:extLst>
          </p:cNvPr>
          <p:cNvCxnSpPr>
            <a:cxnSpLocks/>
            <a:stCxn id="12" idx="1"/>
            <a:endCxn id="26" idx="1"/>
          </p:cNvCxnSpPr>
          <p:nvPr/>
        </p:nvCxnSpPr>
        <p:spPr>
          <a:xfrm>
            <a:off x="5992975" y="2849177"/>
            <a:ext cx="390762" cy="2403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ce réservé du texte 7">
            <a:extLst>
              <a:ext uri="{FF2B5EF4-FFF2-40B4-BE49-F238E27FC236}">
                <a16:creationId xmlns:a16="http://schemas.microsoft.com/office/drawing/2014/main" id="{39AF1883-6731-2B28-1ECF-34B4D50703FA}"/>
              </a:ext>
            </a:extLst>
          </p:cNvPr>
          <p:cNvSpPr txBox="1">
            <a:spLocks/>
          </p:cNvSpPr>
          <p:nvPr/>
        </p:nvSpPr>
        <p:spPr>
          <a:xfrm>
            <a:off x="3608324" y="998971"/>
            <a:ext cx="3387163" cy="862455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« PE »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a file format for </a:t>
            </a:r>
            <a:r>
              <a:rPr lang="fr-FR" sz="1400" b="0" dirty="0" err="1">
                <a:solidFill>
                  <a:schemeClr val="tx2"/>
                </a:solidFill>
              </a:rPr>
              <a:t>executable</a:t>
            </a:r>
            <a:r>
              <a:rPr lang="fr-FR" sz="1400" b="0" dirty="0">
                <a:solidFill>
                  <a:schemeClr val="tx2"/>
                </a:solidFill>
              </a:rPr>
              <a:t>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(</a:t>
            </a:r>
            <a:r>
              <a:rPr lang="fr-FR" sz="1400" b="0" dirty="0" err="1">
                <a:solidFill>
                  <a:schemeClr val="tx2"/>
                </a:solidFill>
              </a:rPr>
              <a:t>It’s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what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in .exe &amp; .DLL)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It </a:t>
            </a:r>
            <a:r>
              <a:rPr lang="fr-FR" sz="1400" b="0" dirty="0" err="1">
                <a:solidFill>
                  <a:schemeClr val="tx2"/>
                </a:solidFill>
              </a:rPr>
              <a:t>extends</a:t>
            </a:r>
            <a:r>
              <a:rPr lang="fr-FR" sz="1400" b="0" dirty="0">
                <a:solidFill>
                  <a:schemeClr val="tx2"/>
                </a:solidFill>
              </a:rPr>
              <a:t> the </a:t>
            </a:r>
            <a:r>
              <a:rPr lang="fr-FR" sz="1400" b="0" dirty="0" err="1">
                <a:solidFill>
                  <a:schemeClr val="tx2"/>
                </a:solidFill>
              </a:rPr>
              <a:t>old</a:t>
            </a:r>
            <a:r>
              <a:rPr lang="fr-FR" sz="1400" b="0" dirty="0">
                <a:solidFill>
                  <a:schemeClr val="tx2"/>
                </a:solidFill>
              </a:rPr>
              <a:t> COFF format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515892E-26B1-D70F-5568-46F328CCC86F}"/>
              </a:ext>
            </a:extLst>
          </p:cNvPr>
          <p:cNvCxnSpPr>
            <a:cxnSpLocks/>
            <a:stCxn id="31" idx="2"/>
            <a:endCxn id="14" idx="0"/>
          </p:cNvCxnSpPr>
          <p:nvPr/>
        </p:nvCxnSpPr>
        <p:spPr>
          <a:xfrm flipH="1">
            <a:off x="4928362" y="1861426"/>
            <a:ext cx="373544" cy="3587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du texte 9">
            <a:extLst>
              <a:ext uri="{FF2B5EF4-FFF2-40B4-BE49-F238E27FC236}">
                <a16:creationId xmlns:a16="http://schemas.microsoft.com/office/drawing/2014/main" id="{3890B3BB-5BCF-D24A-8895-8C47CA489963}"/>
              </a:ext>
            </a:extLst>
          </p:cNvPr>
          <p:cNvSpPr txBox="1">
            <a:spLocks/>
          </p:cNvSpPr>
          <p:nvPr/>
        </p:nvSpPr>
        <p:spPr>
          <a:xfrm>
            <a:off x="7887407" y="998971"/>
            <a:ext cx="4126058" cy="1089555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IL CIL MSIL.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Common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Intermediate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Language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Managed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Code. Code exe in CLR not in OS</a:t>
            </a:r>
          </a:p>
        </p:txBody>
      </p:sp>
    </p:spTree>
    <p:extLst>
      <p:ext uri="{BB962C8B-B14F-4D97-AF65-F5344CB8AC3E}">
        <p14:creationId xmlns:p14="http://schemas.microsoft.com/office/powerpoint/2010/main" val="3244998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951454-69B3-8924-F4CA-B058CFFD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9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D422-6499-B78D-B282-EDEFF09932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D737E7-A75A-C15B-E14D-0D5E1554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F6970-F9A2-A8EF-6868-303E37E1E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D33A1C-6387-0E7E-EE54-774818A1F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220" y="1026223"/>
            <a:ext cx="3813837" cy="494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20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0998-784B-E3C2-8B53-BCEF3012D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5171487-F56D-2E3D-B811-4455453AED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916880" y="1089498"/>
            <a:ext cx="7363894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dirty="0"/>
              <a:t>Types (Data structure)</a:t>
            </a:r>
            <a:endParaRPr lang="en-GB" sz="1800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10685533-9F4F-359A-17D9-F66F0BA4F7B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00" y="1089499"/>
            <a:ext cx="2914204" cy="4889101"/>
          </a:xfrm>
          <a:prstGeom prst="roundRect">
            <a:avLst>
              <a:gd name="adj" fmla="val 7037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 err="1">
                <a:ea typeface="+mn-lt"/>
                <a:cs typeface="+mn-lt"/>
              </a:rPr>
              <a:t>Features</a:t>
            </a:r>
            <a:endParaRPr lang="fr-FR" sz="1600" b="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Variable, </a:t>
            </a:r>
            <a:r>
              <a:rPr lang="fr-LU" sz="1400" b="0" dirty="0" err="1">
                <a:solidFill>
                  <a:schemeClr val="tx2"/>
                </a:solidFill>
              </a:rPr>
              <a:t>methods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/>
              <a:t>Decorator (= Annotation)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Interface | Inheritance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/>
              <a:t>Reflexion</a:t>
            </a:r>
            <a:r>
              <a:rPr lang="fr-LU" sz="1400" dirty="0"/>
              <a:t> | Introspection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Multi</a:t>
            </a:r>
            <a:r>
              <a:rPr lang="fr-LU" sz="1400" dirty="0" err="1"/>
              <a:t>-Threading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C#10. 'state with { change }’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3"/>
              </a:rPr>
              <a:t>?? Operator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4"/>
              </a:rPr>
              <a:t>Async</a:t>
            </a:r>
            <a:r>
              <a:rPr lang="fr-LU" sz="1400" b="1" dirty="0">
                <a:ea typeface="+mn-lt"/>
                <a:cs typeface="+mn-lt"/>
                <a:hlinkClick r:id="rId4"/>
              </a:rPr>
              <a:t> / Await / Task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>
                <a:ea typeface="+mn-lt"/>
                <a:cs typeface="+mn-lt"/>
              </a:rPr>
              <a:t>Throw</a:t>
            </a:r>
            <a:r>
              <a:rPr lang="fr-LU" sz="1400" dirty="0">
                <a:ea typeface="+mn-lt"/>
                <a:cs typeface="+mn-lt"/>
              </a:rPr>
              <a:t> new </a:t>
            </a:r>
            <a:r>
              <a:rPr lang="fr-LU" sz="1400" dirty="0" err="1">
                <a:ea typeface="+mn-lt"/>
                <a:cs typeface="+mn-lt"/>
              </a:rPr>
              <a:t>XxxException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B041B1-A1D0-3134-32E2-E47EE846F5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BB9EC8-6347-B59C-93EC-005C8F68D6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BECDCA-A33F-843B-9E27-43B441B0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6AA6AED3-33FA-5497-EBA7-D95CA903B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0DDA1795-1D4D-069F-9296-40B1565E1ED6}"/>
              </a:ext>
            </a:extLst>
          </p:cNvPr>
          <p:cNvSpPr txBox="1">
            <a:spLocks/>
          </p:cNvSpPr>
          <p:nvPr/>
        </p:nvSpPr>
        <p:spPr>
          <a:xfrm>
            <a:off x="1172297" y="3878511"/>
            <a:ext cx="2081631" cy="1072303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Comment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/// </a:t>
            </a:r>
            <a:r>
              <a:rPr lang="fr-FR" sz="1400" dirty="0" err="1">
                <a:ea typeface="+mn-lt"/>
                <a:cs typeface="+mn-lt"/>
              </a:rPr>
              <a:t>Summary</a:t>
            </a:r>
            <a:endParaRPr lang="fr-FR" sz="140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400" dirty="0"/>
              <a:t>// Todo &lt;=&gt; </a:t>
            </a:r>
            <a:r>
              <a:rPr lang="fr-FR" sz="1400" b="0" dirty="0"/>
              <a:t>Code à </a:t>
            </a:r>
            <a:r>
              <a:rPr lang="fr-FR" sz="1400" b="0" dirty="0" err="1"/>
              <a:t>re-travailler</a:t>
            </a:r>
            <a:endParaRPr lang="fr-FR" sz="1400" b="0" dirty="0"/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50B3496F-BCC5-408B-F7AE-2F1CF7F73254}"/>
              </a:ext>
            </a:extLst>
          </p:cNvPr>
          <p:cNvSpPr txBox="1">
            <a:spLocks/>
          </p:cNvSpPr>
          <p:nvPr/>
        </p:nvSpPr>
        <p:spPr>
          <a:xfrm>
            <a:off x="4202439" y="1815616"/>
            <a:ext cx="3171782" cy="65938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Value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b="0" dirty="0" err="1">
                <a:ea typeface="+mn-lt"/>
                <a:cs typeface="+mn-lt"/>
              </a:rPr>
              <a:t>bool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int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uint</a:t>
            </a:r>
            <a:r>
              <a:rPr lang="fr-FR" sz="1400" b="0" dirty="0">
                <a:ea typeface="+mn-lt"/>
                <a:cs typeface="+mn-lt"/>
              </a:rPr>
              <a:t> / double / </a:t>
            </a:r>
            <a:r>
              <a:rPr lang="fr-FR" sz="1400" b="0" dirty="0" err="1">
                <a:ea typeface="+mn-lt"/>
                <a:cs typeface="+mn-lt"/>
              </a:rPr>
              <a:t>float</a:t>
            </a:r>
            <a:r>
              <a:rPr lang="fr-FR" sz="1400" b="0" dirty="0">
                <a:ea typeface="+mn-lt"/>
                <a:cs typeface="+mn-lt"/>
              </a:rPr>
              <a:t> / string</a:t>
            </a:r>
            <a:endParaRPr lang="fr-FR" sz="1400" b="0" dirty="0"/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3007AB7C-4530-FE7E-EBE9-F9FC4078773F}"/>
              </a:ext>
            </a:extLst>
          </p:cNvPr>
          <p:cNvSpPr txBox="1">
            <a:spLocks/>
          </p:cNvSpPr>
          <p:nvPr/>
        </p:nvSpPr>
        <p:spPr>
          <a:xfrm>
            <a:off x="4062060" y="3542564"/>
            <a:ext cx="3724847" cy="1744884"/>
          </a:xfrm>
          <a:prstGeom prst="roundRect">
            <a:avLst>
              <a:gd name="adj" fmla="val 137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Nb of char </a:t>
            </a:r>
            <a:r>
              <a:rPr lang="fr-FR" sz="1400" dirty="0" err="1"/>
              <a:t>string.Length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Concatenate</a:t>
            </a:r>
            <a:r>
              <a:rPr lang="fr-FR" sz="1400" dirty="0"/>
              <a:t>. </a:t>
            </a:r>
            <a:r>
              <a:rPr lang="en-GB" sz="1400" dirty="0" err="1"/>
              <a:t>string.Join</a:t>
            </a:r>
            <a:r>
              <a:rPr lang="en-GB" sz="1400" dirty="0"/>
              <a:t> .</a:t>
            </a:r>
            <a:r>
              <a:rPr lang="en-GB" sz="1400" dirty="0" err="1"/>
              <a:t>Concat</a:t>
            </a:r>
            <a:r>
              <a:rPr lang="en-GB" sz="1400" dirty="0"/>
              <a:t> or +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Concatenate</a:t>
            </a:r>
            <a:r>
              <a:rPr lang="fr-FR" sz="1400" dirty="0"/>
              <a:t> </a:t>
            </a:r>
            <a:r>
              <a:rPr lang="fr-FR" sz="1400" dirty="0" err="1"/>
              <a:t>efficiently</a:t>
            </a:r>
            <a:r>
              <a:rPr lang="fr-FR" sz="1400" dirty="0"/>
              <a:t> </a:t>
            </a:r>
            <a:r>
              <a:rPr lang="fr-FR" sz="1400" dirty="0" err="1"/>
              <a:t>with</a:t>
            </a:r>
            <a:r>
              <a:rPr lang="fr-FR" sz="1400" dirty="0"/>
              <a:t> </a:t>
            </a:r>
            <a:r>
              <a:rPr lang="fr-FR" sz="1400" dirty="0" err="1"/>
              <a:t>StringBuilder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5"/>
              </a:rPr>
              <a:t>Multi-line string</a:t>
            </a:r>
            <a:r>
              <a:rPr lang="fr-LU" sz="1400" b="1" dirty="0">
                <a:ea typeface="+mn-lt"/>
                <a:cs typeface="+mn-lt"/>
              </a:rPr>
              <a:t> </a:t>
            </a:r>
            <a:r>
              <a:rPr lang="fr-LU" sz="1400" dirty="0">
                <a:ea typeface="+mn-lt"/>
                <a:cs typeface="+mn-lt"/>
              </a:rPr>
              <a:t>(« @ »)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>
                <a:ea typeface="+mn-lt"/>
                <a:cs typeface="+mn-lt"/>
              </a:rPr>
              <a:t>« $"{var}" » Param string</a:t>
            </a:r>
          </a:p>
          <a:p>
            <a:pPr marL="320040" lvl="3" indent="-182880">
              <a:spcBef>
                <a:spcPts val="600"/>
              </a:spcBef>
            </a:pPr>
            <a:endParaRPr lang="fr-FR" sz="1400" dirty="0"/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1765067F-F8E1-D37C-943D-F1BC7635270A}"/>
              </a:ext>
            </a:extLst>
          </p:cNvPr>
          <p:cNvSpPr txBox="1">
            <a:spLocks/>
          </p:cNvSpPr>
          <p:nvPr/>
        </p:nvSpPr>
        <p:spPr>
          <a:xfrm>
            <a:off x="4062661" y="1465629"/>
            <a:ext cx="3476036" cy="1928471"/>
          </a:xfrm>
          <a:prstGeom prst="roundRect">
            <a:avLst>
              <a:gd name="adj" fmla="val 100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  <a:hlinkClick r:id="rId6"/>
              </a:rPr>
              <a:t>Built-In</a:t>
            </a:r>
            <a:endParaRPr lang="fr-FR" sz="1400" dirty="0"/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3F288951-E720-5D6F-4376-EE82ADC885A7}"/>
              </a:ext>
            </a:extLst>
          </p:cNvPr>
          <p:cNvSpPr txBox="1">
            <a:spLocks/>
          </p:cNvSpPr>
          <p:nvPr/>
        </p:nvSpPr>
        <p:spPr>
          <a:xfrm>
            <a:off x="8121005" y="3521837"/>
            <a:ext cx="3017166" cy="2323333"/>
          </a:xfrm>
          <a:prstGeom prst="roundRect">
            <a:avLst>
              <a:gd name="adj" fmla="val 102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Collections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Array</a:t>
            </a:r>
            <a:r>
              <a:rPr lang="fr-FR" sz="1400" b="1" dirty="0"/>
              <a:t>.</a:t>
            </a:r>
            <a:r>
              <a:rPr lang="fr-FR" sz="1400" dirty="0"/>
              <a:t> </a:t>
            </a:r>
            <a:r>
              <a:rPr lang="fr-FR" sz="1400" dirty="0" err="1"/>
              <a:t>statically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/>
              <a:t>List.</a:t>
            </a:r>
            <a:r>
              <a:rPr lang="fr-FR" sz="1400" dirty="0"/>
              <a:t> </a:t>
            </a:r>
            <a:r>
              <a:rPr lang="fr-FR" sz="1400" dirty="0" err="1"/>
              <a:t>dynamically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Hashset</a:t>
            </a:r>
            <a:r>
              <a:rPr lang="fr-FR" sz="1400" b="1" dirty="0"/>
              <a:t>. </a:t>
            </a:r>
            <a:r>
              <a:rPr lang="fr-FR" sz="1400" dirty="0"/>
              <a:t>unordered </a:t>
            </a:r>
            <a:r>
              <a:rPr lang="fr-FR" sz="1400" b="1" u="sng" dirty="0"/>
              <a:t>unique</a:t>
            </a:r>
            <a:r>
              <a:rPr lang="fr-FR" sz="1400" dirty="0"/>
              <a:t> </a:t>
            </a:r>
            <a:r>
              <a:rPr lang="fr-FR" sz="1400" dirty="0" err="1"/>
              <a:t>elt</a:t>
            </a:r>
            <a:endParaRPr lang="fr-LU" sz="140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Dictionary</a:t>
            </a:r>
            <a:r>
              <a:rPr lang="fr-FR" sz="1400" b="1" dirty="0"/>
              <a:t>.</a:t>
            </a:r>
            <a:r>
              <a:rPr lang="fr-FR" sz="1400" dirty="0"/>
              <a:t> couple (Key, Value)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Queue.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Stack.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7"/>
              </a:rPr>
              <a:t>Enumerable.Aggregate</a:t>
            </a:r>
            <a:endParaRPr lang="fr-FR" sz="1400" b="1" dirty="0">
              <a:ea typeface="+mn-lt"/>
              <a:cs typeface="+mn-lt"/>
            </a:endParaRPr>
          </a:p>
        </p:txBody>
      </p:sp>
      <p:sp>
        <p:nvSpPr>
          <p:cNvPr id="16" name="Espace réservé du texte 9">
            <a:extLst>
              <a:ext uri="{FF2B5EF4-FFF2-40B4-BE49-F238E27FC236}">
                <a16:creationId xmlns:a16="http://schemas.microsoft.com/office/drawing/2014/main" id="{F833BC9A-FB0D-5C76-B46B-6D63023013A5}"/>
              </a:ext>
            </a:extLst>
          </p:cNvPr>
          <p:cNvSpPr txBox="1">
            <a:spLocks/>
          </p:cNvSpPr>
          <p:nvPr/>
        </p:nvSpPr>
        <p:spPr>
          <a:xfrm>
            <a:off x="1167054" y="5075524"/>
            <a:ext cx="2081631" cy="903076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Modifiers</a:t>
            </a:r>
            <a:endParaRPr lang="fr-FR" sz="160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/>
              <a:t>p</a:t>
            </a:r>
            <a:r>
              <a:rPr lang="fr-LU" sz="1400" b="1" dirty="0" err="1">
                <a:solidFill>
                  <a:schemeClr val="tx2"/>
                </a:solidFill>
              </a:rPr>
              <a:t>rivate</a:t>
            </a:r>
            <a:r>
              <a:rPr lang="fr-LU" sz="1400" b="1" dirty="0">
                <a:solidFill>
                  <a:schemeClr val="tx2"/>
                </a:solidFill>
              </a:rPr>
              <a:t> / public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/>
              <a:t>static</a:t>
            </a:r>
            <a:r>
              <a:rPr lang="fr-LU" sz="1400" b="1" dirty="0"/>
              <a:t>, abstract</a:t>
            </a:r>
          </a:p>
          <a:p>
            <a:pPr marL="320040" lvl="3" indent="-182880">
              <a:spcBef>
                <a:spcPts val="600"/>
              </a:spcBef>
            </a:pPr>
            <a:endParaRPr lang="fr-LU" sz="1400" b="1" dirty="0">
              <a:solidFill>
                <a:schemeClr val="tx2"/>
              </a:solidFill>
            </a:endParaRP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D716F9AA-5806-56D7-40E6-A7222642269E}"/>
              </a:ext>
            </a:extLst>
          </p:cNvPr>
          <p:cNvSpPr txBox="1">
            <a:spLocks/>
          </p:cNvSpPr>
          <p:nvPr/>
        </p:nvSpPr>
        <p:spPr>
          <a:xfrm>
            <a:off x="4202439" y="2611184"/>
            <a:ext cx="3171782" cy="65938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Reference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b="0" dirty="0" err="1">
                <a:ea typeface="+mn-lt"/>
                <a:cs typeface="+mn-lt"/>
              </a:rPr>
              <a:t>object</a:t>
            </a:r>
            <a:r>
              <a:rPr lang="fr-FR" sz="1400" b="0" dirty="0">
                <a:ea typeface="+mn-lt"/>
                <a:cs typeface="+mn-lt"/>
              </a:rPr>
              <a:t> / string / </a:t>
            </a:r>
            <a:r>
              <a:rPr lang="fr-FR" sz="1400" b="0" dirty="0" err="1">
                <a:ea typeface="+mn-lt"/>
                <a:cs typeface="+mn-lt"/>
              </a:rPr>
              <a:t>delegate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dynamic</a:t>
            </a:r>
            <a:endParaRPr lang="fr-FR" sz="1400" b="0" dirty="0"/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970A73A7-1003-46F7-4BE9-9138EA4689ED}"/>
              </a:ext>
            </a:extLst>
          </p:cNvPr>
          <p:cNvSpPr txBox="1">
            <a:spLocks/>
          </p:cNvSpPr>
          <p:nvPr/>
        </p:nvSpPr>
        <p:spPr>
          <a:xfrm>
            <a:off x="7703172" y="1465629"/>
            <a:ext cx="2517787" cy="1493456"/>
          </a:xfrm>
          <a:prstGeom prst="roundRect">
            <a:avLst>
              <a:gd name="adj" fmla="val 147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Others</a:t>
            </a:r>
            <a:r>
              <a:rPr lang="fr-FR" sz="1600" dirty="0">
                <a:ea typeface="+mn-lt"/>
                <a:cs typeface="+mn-lt"/>
              </a:rPr>
              <a:t> Custom Types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/>
              <a:t>Struct.</a:t>
            </a:r>
            <a:r>
              <a:rPr lang="fr-FR" sz="1400" dirty="0"/>
              <a:t> Value copy !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/>
              <a:t>Class.</a:t>
            </a:r>
            <a:r>
              <a:rPr lang="fr-FR" sz="1400" dirty="0"/>
              <a:t> </a:t>
            </a:r>
            <a:r>
              <a:rPr lang="fr-FR" sz="1400" dirty="0" err="1"/>
              <a:t>Ref</a:t>
            </a:r>
            <a:r>
              <a:rPr lang="fr-FR" sz="1400" dirty="0"/>
              <a:t> copy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/>
              <a:t>Record.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Enum</a:t>
            </a:r>
            <a:r>
              <a:rPr lang="fr-FR" sz="1400" b="1"/>
              <a:t>.</a:t>
            </a:r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1037923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15208-ACEB-0E6B-A4CB-CD3AB01E8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D1262F3-FD95-5FD4-7C22-729A76B4C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199" y="1089499"/>
            <a:ext cx="2994623" cy="4889101"/>
          </a:xfrm>
        </p:spPr>
        <p:txBody>
          <a:bodyPr/>
          <a:lstStyle/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Concrete method since C# 8.0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Can inherit </a:t>
            </a:r>
            <a:r>
              <a:rPr lang="en-GB" sz="1400" b="1" u="sng" dirty="0">
                <a:ea typeface="+mn-lt"/>
                <a:cs typeface="+mn-lt"/>
              </a:rPr>
              <a:t>only 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No properties, no constructors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All methods are public</a:t>
            </a:r>
          </a:p>
          <a:p>
            <a:pPr marL="287655" lvl="3" indent="-215900" fontAlgn="base">
              <a:spcBef>
                <a:spcPts val="300"/>
              </a:spcBef>
            </a:pPr>
            <a:endParaRPr lang="fr-FR" sz="1400" dirty="0">
              <a:ea typeface="+mn-lt"/>
              <a:cs typeface="+mn-lt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6A3475-74C1-FFB2-8313-204F96BBD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7C410BE4-1618-88D2-EE3A-1F9479A326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E9A35E8-F5DC-8804-0ACF-99909E2F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533C1F61-098B-2951-C85D-9F7F863A9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8C073C5-9EE8-F78F-8BE1-9D0A2DE345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13713" y="1450635"/>
            <a:ext cx="4824458" cy="1756109"/>
          </a:xfrm>
          <a:prstGeom prst="roundRect">
            <a:avLst>
              <a:gd name="adj" fmla="val 1133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Abstract 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define a base class in class hierarchy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methods, fields, props (abstract &amp; non abs)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constructs (non abstract !)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Abstract element must be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by subclass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Non abstract element provide def° imp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 </a:t>
            </a:r>
            <a:r>
              <a:rPr lang="en-GB" sz="1400" dirty="0">
                <a:ea typeface="+mn-lt"/>
                <a:cs typeface="+mn-lt"/>
              </a:rPr>
              <a:t>public abstract class </a:t>
            </a:r>
            <a:r>
              <a:rPr lang="en-GB" sz="1400" dirty="0" err="1">
                <a:ea typeface="+mn-lt"/>
                <a:cs typeface="+mn-lt"/>
              </a:rPr>
              <a:t>AbstractClass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6C99741-96B2-08CE-4A60-1284AD18EA4D}"/>
              </a:ext>
            </a:extLst>
          </p:cNvPr>
          <p:cNvSpPr txBox="1">
            <a:spLocks/>
          </p:cNvSpPr>
          <p:nvPr/>
        </p:nvSpPr>
        <p:spPr>
          <a:xfrm>
            <a:off x="3969657" y="1089499"/>
            <a:ext cx="7305347" cy="4889102"/>
          </a:xfrm>
          <a:prstGeom prst="roundRect">
            <a:avLst>
              <a:gd name="adj" fmla="val 506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Class</a:t>
            </a:r>
            <a:endParaRPr lang="en-US" dirty="0"/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C725B030-1C20-D8AE-B2F9-D8EFF2621234}"/>
              </a:ext>
            </a:extLst>
          </p:cNvPr>
          <p:cNvSpPr txBox="1">
            <a:spLocks/>
          </p:cNvSpPr>
          <p:nvPr/>
        </p:nvSpPr>
        <p:spPr>
          <a:xfrm>
            <a:off x="4114915" y="1450635"/>
            <a:ext cx="2081631" cy="2217013"/>
          </a:xfrm>
          <a:prstGeom prst="roundRect">
            <a:avLst>
              <a:gd name="adj" fmla="val 79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Structure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Naming</a:t>
            </a:r>
            <a:endParaRPr lang="fr-LU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Ordered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 Content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Class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Property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Constructor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Public Methods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Private</a:t>
            </a:r>
            <a:r>
              <a:rPr lang="fr-LU" sz="1400" b="0" dirty="0"/>
              <a:t> Methods</a:t>
            </a:r>
            <a:endParaRPr lang="fr-LU" sz="1600" b="1" dirty="0">
              <a:solidFill>
                <a:schemeClr val="tx2"/>
              </a:solidFill>
            </a:endParaRP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8CCB829-A8E8-5F8F-87A9-971C8B7D0A62}"/>
              </a:ext>
            </a:extLst>
          </p:cNvPr>
          <p:cNvSpPr txBox="1">
            <a:spLocks/>
          </p:cNvSpPr>
          <p:nvPr/>
        </p:nvSpPr>
        <p:spPr>
          <a:xfrm>
            <a:off x="6313713" y="3359821"/>
            <a:ext cx="4824457" cy="1533726"/>
          </a:xfrm>
          <a:prstGeom prst="roundRect">
            <a:avLst>
              <a:gd name="adj" fmla="val 1133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Static Class</a:t>
            </a:r>
            <a:endParaRPr lang="fr-FR" sz="1800" dirty="0"/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contain utility methods or </a:t>
            </a:r>
            <a:r>
              <a:rPr lang="en-GB" sz="1400" dirty="0" err="1">
                <a:ea typeface="+mn-lt"/>
                <a:cs typeface="+mn-lt"/>
              </a:rPr>
              <a:t>cstes</a:t>
            </a:r>
            <a:r>
              <a:rPr lang="en-GB" sz="1400" dirty="0">
                <a:ea typeface="+mn-lt"/>
                <a:cs typeface="+mn-lt"/>
              </a:rPr>
              <a:t> (</a:t>
            </a:r>
            <a:r>
              <a:rPr lang="en-GB" sz="1400" b="1" dirty="0">
                <a:ea typeface="+mn-lt"/>
                <a:cs typeface="+mn-lt"/>
              </a:rPr>
              <a:t>Ex.</a:t>
            </a:r>
            <a:r>
              <a:rPr lang="en-GB" sz="1400" dirty="0">
                <a:ea typeface="+mn-lt"/>
                <a:cs typeface="+mn-lt"/>
              </a:rPr>
              <a:t> </a:t>
            </a:r>
            <a:r>
              <a:rPr lang="en-GB" sz="1200" dirty="0" err="1">
                <a:ea typeface="+mn-lt"/>
                <a:cs typeface="+mn-lt"/>
              </a:rPr>
              <a:t>System.Math</a:t>
            </a:r>
            <a:r>
              <a:rPr lang="en-GB" sz="1400" dirty="0">
                <a:ea typeface="+mn-lt"/>
                <a:cs typeface="+mn-lt"/>
              </a:rPr>
              <a:t>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Contains only static elts (methods, properties)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be used to contain </a:t>
            </a:r>
            <a:r>
              <a:rPr lang="en-GB" sz="1400" b="1" dirty="0">
                <a:ea typeface="+mn-lt"/>
                <a:cs typeface="+mn-lt"/>
                <a:hlinkClick r:id="rId4"/>
              </a:rPr>
              <a:t>ExtensionMethod</a:t>
            </a:r>
            <a:endParaRPr lang="en-GB" sz="1400" b="1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inherited (= Is “sealed”)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</a:t>
            </a:r>
            <a:r>
              <a:rPr lang="en-GB" sz="1400" dirty="0">
                <a:ea typeface="+mn-lt"/>
                <a:cs typeface="+mn-lt"/>
              </a:rPr>
              <a:t> public static class </a:t>
            </a:r>
            <a:r>
              <a:rPr lang="en-GB" sz="1400" dirty="0" err="1">
                <a:ea typeface="+mn-lt"/>
                <a:cs typeface="+mn-lt"/>
              </a:rPr>
              <a:t>StaticClass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E32D2A1F-9EDD-0B39-E925-AA151FFC529F}"/>
              </a:ext>
            </a:extLst>
          </p:cNvPr>
          <p:cNvSpPr txBox="1">
            <a:spLocks/>
          </p:cNvSpPr>
          <p:nvPr/>
        </p:nvSpPr>
        <p:spPr>
          <a:xfrm>
            <a:off x="4114915" y="5078461"/>
            <a:ext cx="2519227" cy="69004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Methods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solidFill>
                  <a:schemeClr val="tx2"/>
                </a:solidFill>
                <a:hlinkClick r:id="rId4"/>
              </a:rPr>
              <a:t>Extension Methods</a:t>
            </a:r>
            <a:r>
              <a:rPr lang="fr-LU" sz="1400" b="1" dirty="0">
                <a:solidFill>
                  <a:schemeClr val="tx2"/>
                </a:solidFill>
              </a:rPr>
              <a:t> (</a:t>
            </a:r>
            <a:r>
              <a:rPr lang="fr-LU" sz="1400" b="1" dirty="0">
                <a:solidFill>
                  <a:schemeClr val="tx2"/>
                </a:solidFill>
                <a:hlinkClick r:id="rId5"/>
              </a:rPr>
              <a:t>Ex</a:t>
            </a:r>
            <a:r>
              <a:rPr lang="fr-LU" sz="1400" b="1" dirty="0">
                <a:solidFill>
                  <a:schemeClr val="tx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156820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Angular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40627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5E96E94-918F-B3D4-D69F-015740082C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dirty="0"/>
              <a:t>Features</a:t>
            </a:r>
            <a:endParaRPr lang="fr-FR" dirty="0"/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Service Worker (Pour PWA !)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Web Worker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SSR (Angular Universal Old.)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</a:rPr>
              <a:t>Resolvers</a:t>
            </a:r>
            <a:r>
              <a:rPr lang="fr-FR" sz="1800" dirty="0">
                <a:solidFill>
                  <a:schemeClr val="tx2"/>
                </a:solidFill>
              </a:rPr>
              <a:t>.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Signals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 (State </a:t>
            </a: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Mngt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)</a:t>
            </a:r>
          </a:p>
          <a:p>
            <a:pPr>
              <a:spcBef>
                <a:spcPts val="0"/>
              </a:spcBef>
            </a:pPr>
            <a:r>
              <a:rPr lang="fr-FR" sz="1800" b="0" dirty="0" err="1">
                <a:solidFill>
                  <a:schemeClr val="tx2"/>
                </a:solidFill>
                <a:highlight>
                  <a:srgbClr val="FFFF00"/>
                </a:highlight>
              </a:rPr>
              <a:t>Internationalization</a:t>
            </a:r>
            <a:r>
              <a:rPr lang="fr-FR" sz="1800" b="0" dirty="0">
                <a:solidFill>
                  <a:schemeClr val="tx2"/>
                </a:solidFill>
                <a:highlight>
                  <a:srgbClr val="FFFF00"/>
                </a:highlight>
              </a:rPr>
              <a:t> (i18n)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Router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en-US" dirty="0"/>
              <a:t>Directive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fr-FR" dirty="0"/>
              <a:t>Guard</a:t>
            </a:r>
          </a:p>
          <a:p>
            <a:pPr marL="360000" lvl="1">
              <a:spcBef>
                <a:spcPts val="0"/>
              </a:spcBef>
            </a:pPr>
            <a:r>
              <a:rPr lang="fr-FR" dirty="0"/>
              <a:t>Pipe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Http Client / Interceptor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3724312"/>
            <a:ext cx="5144311" cy="2359454"/>
          </a:xfrm>
          <a:prstGeom prst="roundRect">
            <a:avLst>
              <a:gd name="adj" fmla="val 7480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Modularity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Component (.html, .css, .ts)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Service. Injectable (DI)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  <a:endParaRPr lang="fr-FR" dirty="0"/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81D3F34D-9ED1-DC63-13B9-78FF79E224BE}"/>
              </a:ext>
            </a:extLst>
          </p:cNvPr>
          <p:cNvSpPr txBox="1">
            <a:spLocks/>
          </p:cNvSpPr>
          <p:nvPr/>
        </p:nvSpPr>
        <p:spPr>
          <a:xfrm>
            <a:off x="837426" y="1084414"/>
            <a:ext cx="5145086" cy="2491906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0" dirty="0"/>
              <a:t>Presentation</a:t>
            </a:r>
            <a:endParaRPr lang="fr-FR" dirty="0"/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Based on ‘HTML, CSS &amp; TS’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Single Page Application (SPA) Framework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 collection of JS modules (So use : node, </a:t>
            </a:r>
            <a:r>
              <a:rPr lang="en-GB" sz="1600" b="0" dirty="0" err="1"/>
              <a:t>npm</a:t>
            </a:r>
            <a:r>
              <a:rPr lang="en-GB" sz="1600" b="0" dirty="0"/>
              <a:t>)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Adapted for “Web mobile &amp; desktop, native mobile &amp; desktop”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Implement “Inversion of Control” via “DI”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 err="1"/>
              <a:t>Versionné</a:t>
            </a:r>
            <a:r>
              <a:rPr lang="en-GB" sz="1600" b="0" dirty="0"/>
              <a:t> ! (Last. 19)</a:t>
            </a:r>
          </a:p>
        </p:txBody>
      </p:sp>
    </p:spTree>
    <p:extLst>
      <p:ext uri="{BB962C8B-B14F-4D97-AF65-F5344CB8AC3E}">
        <p14:creationId xmlns:p14="http://schemas.microsoft.com/office/powerpoint/2010/main" val="988781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11FB7-00E3-49E5-1EDD-D96B19C6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A2B3C4-A475-1ADE-344E-044B9616C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6FF39F4-1FE1-886F-95EE-ADC9F9A81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A42F43AA-0546-2240-BBA5-682E496729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1585383"/>
          </a:xfrm>
          <a:prstGeom prst="roundRect">
            <a:avLst>
              <a:gd name="adj" fmla="val 13062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Module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Lazy loading (Warn : != JS module = every </a:t>
            </a:r>
            <a:r>
              <a:rPr lang="en-GB" sz="1600" b="0" dirty="0" err="1"/>
              <a:t>js</a:t>
            </a:r>
            <a:r>
              <a:rPr lang="en-GB" sz="1600" b="0" dirty="0"/>
              <a:t> file)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Ex.</a:t>
            </a:r>
            <a:r>
              <a:rPr lang="en-GB" sz="1600" b="0" dirty="0"/>
              <a:t> root module, Router, </a:t>
            </a:r>
            <a:r>
              <a:rPr lang="en-GB" sz="1600" b="0" dirty="0" err="1"/>
              <a:t>FormsModule</a:t>
            </a:r>
            <a:r>
              <a:rPr lang="en-GB" sz="1600" b="0" dirty="0"/>
              <a:t> 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Metadata.</a:t>
            </a:r>
            <a:r>
              <a:rPr lang="en-GB" sz="1600" b="0" dirty="0"/>
              <a:t> imports (module), providers, declaration, exports, bootstrap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4B03B700-4BE7-A4C3-FE8F-A3D969739F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62E66CA-F7F9-1BE2-953E-CCA8D8706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4BCE4E3-001A-7F71-DA5E-F20D00949E08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8" y="1089025"/>
            <a:ext cx="5145087" cy="1207135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Directive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Type.</a:t>
            </a:r>
            <a:r>
              <a:rPr lang="en-GB" sz="1600" b="0" dirty="0"/>
              <a:t> Component, Attribute, Structural</a:t>
            </a:r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Ex.</a:t>
            </a:r>
            <a:r>
              <a:rPr lang="en-GB" sz="1600" b="0" dirty="0"/>
              <a:t> </a:t>
            </a:r>
            <a:r>
              <a:rPr lang="en-GB" sz="1600" b="0" dirty="0" err="1"/>
              <a:t>ngModel</a:t>
            </a:r>
            <a:r>
              <a:rPr lang="en-GB" sz="1600" b="0" dirty="0"/>
              <a:t>, </a:t>
            </a:r>
            <a:r>
              <a:rPr lang="en-GB" sz="1600" b="0" dirty="0" err="1"/>
              <a:t>ngSwitch</a:t>
            </a:r>
            <a:r>
              <a:rPr lang="en-GB" sz="1600" b="0" dirty="0"/>
              <a:t>, </a:t>
            </a:r>
            <a:r>
              <a:rPr lang="en-GB" sz="1600" b="0" dirty="0" err="1"/>
              <a:t>ngStyle</a:t>
            </a:r>
            <a:r>
              <a:rPr lang="en-GB" sz="1600" b="0" dirty="0"/>
              <a:t>, </a:t>
            </a:r>
            <a:r>
              <a:rPr lang="en-GB" sz="1600" b="0" dirty="0" err="1"/>
              <a:t>ngClass</a:t>
            </a:r>
            <a:endParaRPr lang="en-GB" sz="1600" b="0" dirty="0">
              <a:solidFill>
                <a:schemeClr val="tx1"/>
              </a:solidFill>
            </a:endParaRPr>
          </a:p>
          <a:p>
            <a:pPr marL="365760" lvl="1" indent="-274320">
              <a:spcBef>
                <a:spcPts val="0"/>
              </a:spcBef>
            </a:pP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2"/>
              </a:rPr>
              <a:t>ngFor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3"/>
              </a:rPr>
              <a:t>ngIf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endParaRPr lang="en-US" sz="1600" b="0" dirty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BB33D4CA-7C9D-D1BA-B797-945B327B3B77}"/>
              </a:ext>
            </a:extLst>
          </p:cNvPr>
          <p:cNvSpPr txBox="1">
            <a:spLocks/>
          </p:cNvSpPr>
          <p:nvPr/>
        </p:nvSpPr>
        <p:spPr>
          <a:xfrm>
            <a:off x="838200" y="2827957"/>
            <a:ext cx="5144311" cy="3150568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Component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Extend “Directive” :O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Metadata. CSS Selector, HTML </a:t>
            </a:r>
            <a:r>
              <a:rPr lang="en-GB" sz="1600" b="0" dirty="0" err="1"/>
              <a:t>tmplt</a:t>
            </a:r>
            <a:r>
              <a:rPr lang="en-GB" sz="1600" b="0" dirty="0"/>
              <a:t>, Providers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Lifecycle (</a:t>
            </a:r>
            <a:r>
              <a:rPr lang="en-GB" sz="1600" b="0" dirty="0" err="1"/>
              <a:t>init</a:t>
            </a:r>
            <a:r>
              <a:rPr lang="en-GB" sz="1600" b="0" dirty="0"/>
              <a:t>, destroy, changes…)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Pass data btw Component : @input, @output, </a:t>
            </a:r>
            <a:r>
              <a:rPr lang="en-GB" sz="1600" b="0" dirty="0" err="1"/>
              <a:t>EventEmitter</a:t>
            </a:r>
            <a:endParaRPr lang="en-GB" sz="1600" b="0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E6F91D7-B2C7-1C0C-E1E5-0830A52D1986}"/>
              </a:ext>
            </a:extLst>
          </p:cNvPr>
          <p:cNvSpPr txBox="1">
            <a:spLocks/>
          </p:cNvSpPr>
          <p:nvPr/>
        </p:nvSpPr>
        <p:spPr>
          <a:xfrm>
            <a:off x="6135686" y="5309418"/>
            <a:ext cx="5144311" cy="700773"/>
          </a:xfrm>
          <a:prstGeom prst="roundRect">
            <a:avLst>
              <a:gd name="adj" fmla="val 2552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dirty="0"/>
              <a:t>Web Worker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GB" sz="1400" b="0" dirty="0">
                <a:solidFill>
                  <a:schemeClr val="tx2"/>
                </a:solidFill>
              </a:rPr>
              <a:t>Code that allow to run heavy task in background</a:t>
            </a:r>
            <a:endParaRPr lang="en-US" sz="1400" b="0" dirty="0">
              <a:solidFill>
                <a:schemeClr val="tx2"/>
              </a:solidFill>
            </a:endParaRP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CC02CD2-819B-4FA4-5975-DB6EE26115BD}"/>
              </a:ext>
            </a:extLst>
          </p:cNvPr>
          <p:cNvSpPr txBox="1">
            <a:spLocks/>
          </p:cNvSpPr>
          <p:nvPr/>
        </p:nvSpPr>
        <p:spPr>
          <a:xfrm>
            <a:off x="6134910" y="2480382"/>
            <a:ext cx="5145087" cy="1360098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Service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b="0" dirty="0"/>
              <a:t>For data/logic not associated with a specific view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Make any entity (class, compo…) a  Service : @Injectable()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Provide the service </a:t>
            </a:r>
          </a:p>
        </p:txBody>
      </p:sp>
    </p:spTree>
    <p:extLst>
      <p:ext uri="{BB962C8B-B14F-4D97-AF65-F5344CB8AC3E}">
        <p14:creationId xmlns:p14="http://schemas.microsoft.com/office/powerpoint/2010/main" val="327658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8D4E-D09E-C782-3B47-F44BD8A98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5D4DB38-77F2-3ABE-2AE3-92238B21A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D0B0CA8-DB78-BD33-0BF4-4E80C95D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2D84AE3-A246-191C-F76A-D4300527D5E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43C7477-0ADD-DA13-655E-A29E68223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Versions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C89BB6-78F7-DF15-B158-C5A3A7D66FB0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5" y="3772715"/>
            <a:ext cx="5145087" cy="1274941"/>
          </a:xfrm>
          <a:prstGeom prst="roundRect">
            <a:avLst>
              <a:gd name="adj" fmla="val 1671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14</a:t>
            </a:r>
            <a:endParaRPr lang="en-US" sz="1800" dirty="0">
              <a:solidFill>
                <a:schemeClr val="tx2"/>
              </a:solidFill>
            </a:endParaRP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Stand-alone Component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3F1D704-0E40-7F43-1C0D-8A7D8D7D1337}"/>
              </a:ext>
            </a:extLst>
          </p:cNvPr>
          <p:cNvSpPr txBox="1">
            <a:spLocks/>
          </p:cNvSpPr>
          <p:nvPr/>
        </p:nvSpPr>
        <p:spPr>
          <a:xfrm>
            <a:off x="6135686" y="5181600"/>
            <a:ext cx="5144311" cy="828592"/>
          </a:xfrm>
          <a:prstGeom prst="roundRect">
            <a:avLst>
              <a:gd name="adj" fmla="val 229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dirty="0"/>
              <a:t>9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AOT compilation become default (JIT deprecate)</a:t>
            </a: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F3262D8F-D6A2-D740-C4CD-014BF509DE43}"/>
              </a:ext>
            </a:extLst>
          </p:cNvPr>
          <p:cNvSpPr txBox="1">
            <a:spLocks/>
          </p:cNvSpPr>
          <p:nvPr/>
        </p:nvSpPr>
        <p:spPr>
          <a:xfrm>
            <a:off x="837426" y="2190340"/>
            <a:ext cx="5145086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18 (TS 5.4)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Content Projection (&lt;ng-content&gt; default)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Router &amp; </a:t>
            </a:r>
            <a:r>
              <a:rPr lang="fr-FR" sz="1600" b="0" dirty="0" err="1"/>
              <a:t>Redirects</a:t>
            </a:r>
            <a:r>
              <a:rPr lang="fr-FR" sz="1600" b="0" dirty="0"/>
              <a:t> </a:t>
            </a:r>
            <a:r>
              <a:rPr lang="fr-FR" sz="1600" b="0" u="sng" dirty="0"/>
              <a:t>as Observable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SSR &amp; </a:t>
            </a: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Improvements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Zoneless</a:t>
            </a:r>
            <a:r>
              <a:rPr lang="fr-FR" sz="1600" b="0" dirty="0"/>
              <a:t> change </a:t>
            </a:r>
            <a:r>
              <a:rPr lang="fr-FR" sz="1600" b="0" dirty="0" err="1"/>
              <a:t>detection</a:t>
            </a:r>
            <a:r>
              <a:rPr lang="fr-FR" sz="1600" b="0" dirty="0"/>
              <a:t> (Expé)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HttpClientModule</a:t>
            </a:r>
            <a:r>
              <a:rPr lang="fr-FR" sz="1600" b="0" dirty="0"/>
              <a:t> =&gt; client HTTP Api (</a:t>
            </a:r>
            <a:r>
              <a:rPr lang="fr-FR" sz="1600" b="0" dirty="0" err="1"/>
              <a:t>interceptors</a:t>
            </a:r>
            <a:r>
              <a:rPr lang="fr-FR" sz="1600" b="0" dirty="0"/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382A7BDF-A4B1-A7F7-471E-4668A48B93F5}"/>
              </a:ext>
            </a:extLst>
          </p:cNvPr>
          <p:cNvSpPr txBox="1">
            <a:spLocks/>
          </p:cNvSpPr>
          <p:nvPr/>
        </p:nvSpPr>
        <p:spPr>
          <a:xfrm>
            <a:off x="6135686" y="2644877"/>
            <a:ext cx="5144311" cy="983226"/>
          </a:xfrm>
          <a:prstGeom prst="roundRect">
            <a:avLst>
              <a:gd name="adj" fmla="val 146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15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Evo 1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Evo 2</a:t>
            </a:r>
            <a:endParaRPr lang="fr-FR" sz="1600" b="0" dirty="0"/>
          </a:p>
        </p:txBody>
      </p:sp>
      <p:sp>
        <p:nvSpPr>
          <p:cNvPr id="10" name="Espace réservé du texte 8">
            <a:extLst>
              <a:ext uri="{FF2B5EF4-FFF2-40B4-BE49-F238E27FC236}">
                <a16:creationId xmlns:a16="http://schemas.microsoft.com/office/drawing/2014/main" id="{93FE1D18-E1D3-8BA3-4AD8-34AE0727B6F8}"/>
              </a:ext>
            </a:extLst>
          </p:cNvPr>
          <p:cNvSpPr txBox="1">
            <a:spLocks/>
          </p:cNvSpPr>
          <p:nvPr/>
        </p:nvSpPr>
        <p:spPr>
          <a:xfrm>
            <a:off x="837426" y="4159045"/>
            <a:ext cx="5144311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17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Deferrable Views (@defer)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SSR. move package (universal deprecated)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Builder. Vite &amp; </a:t>
            </a:r>
            <a:r>
              <a:rPr lang="fr-FR" sz="1600" b="0" dirty="0" err="1"/>
              <a:t>esbuild</a:t>
            </a:r>
            <a:r>
              <a:rPr lang="fr-FR" sz="1600" b="0" dirty="0"/>
              <a:t> </a:t>
            </a:r>
            <a:r>
              <a:rPr lang="fr-FR" sz="1600" b="0" dirty="0" err="1"/>
              <a:t>become</a:t>
            </a:r>
            <a:r>
              <a:rPr lang="fr-FR" sz="1600" b="0" dirty="0"/>
              <a:t> default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Inspect</a:t>
            </a:r>
            <a:r>
              <a:rPr lang="fr-FR" sz="1600" b="0" dirty="0"/>
              <a:t> </a:t>
            </a:r>
            <a:r>
              <a:rPr lang="fr-FR" sz="1600" b="0" dirty="0" err="1"/>
              <a:t>injectorTree</a:t>
            </a:r>
            <a:r>
              <a:rPr lang="fr-FR" sz="1600" b="0" dirty="0"/>
              <a:t> of compo° in 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View</a:t>
            </a:r>
            <a:r>
              <a:rPr lang="fr-FR" sz="1600" b="0" dirty="0"/>
              <a:t> Transition (Expé)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FAFE69-18FA-E7B8-A0D4-BB6C4751E8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5647"/>
            <a:ext cx="5144311" cy="987133"/>
          </a:xfrm>
          <a:prstGeom prst="roundRect">
            <a:avLst>
              <a:gd name="adj" fmla="val 19763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19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sz="1600" u="sng" dirty="0"/>
              <a:t>ASYNC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u="sng" dirty="0"/>
              <a:t>String interpolation in Ang </a:t>
            </a:r>
            <a:r>
              <a:rPr lang="fr-FR" sz="1600" u="sng"/>
              <a:t>Templates</a:t>
            </a:r>
            <a:endParaRPr lang="fr-FR" sz="1600" u="sng" dirty="0"/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D7F8165E-9E2E-7B45-66DA-5ADC7BA75760}"/>
              </a:ext>
            </a:extLst>
          </p:cNvPr>
          <p:cNvSpPr txBox="1">
            <a:spLocks/>
          </p:cNvSpPr>
          <p:nvPr/>
        </p:nvSpPr>
        <p:spPr>
          <a:xfrm>
            <a:off x="6135685" y="1085645"/>
            <a:ext cx="5144311" cy="1414619"/>
          </a:xfrm>
          <a:prstGeom prst="roundRect">
            <a:avLst>
              <a:gd name="adj" fmla="val 1298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16</a:t>
            </a:r>
          </a:p>
          <a:p>
            <a:pPr marL="365760" lvl="1" indent="-274320">
              <a:spcBef>
                <a:spcPts val="3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dirty="0"/>
              <a:t>SYNC</a:t>
            </a:r>
            <a:endParaRPr lang="fr-FR" sz="160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Self-</a:t>
            </a:r>
            <a:r>
              <a:rPr lang="fr-FR" sz="1600" b="0" dirty="0" err="1"/>
              <a:t>closing</a:t>
            </a:r>
            <a:r>
              <a:rPr lang="fr-FR" sz="1600" b="0" dirty="0"/>
              <a:t> tags &lt;</a:t>
            </a:r>
            <a:r>
              <a:rPr lang="fr-FR" sz="1600" b="0" dirty="0" err="1"/>
              <a:t>elt</a:t>
            </a:r>
            <a:r>
              <a:rPr lang="fr-FR" sz="1600" b="0" dirty="0"/>
              <a:t> </a:t>
            </a:r>
            <a:r>
              <a:rPr lang="fr-FR" sz="1600" b="0" dirty="0" err="1"/>
              <a:t>attr</a:t>
            </a:r>
            <a:r>
              <a:rPr lang="fr-FR" sz="1600" b="0" dirty="0"/>
              <a:t>=« val » /&gt;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 param mapping</a:t>
            </a:r>
          </a:p>
        </p:txBody>
      </p:sp>
      <p:sp>
        <p:nvSpPr>
          <p:cNvPr id="9" name="Espace réservé du texte 5">
            <a:extLst>
              <a:ext uri="{FF2B5EF4-FFF2-40B4-BE49-F238E27FC236}">
                <a16:creationId xmlns:a16="http://schemas.microsoft.com/office/drawing/2014/main" id="{49208B47-CAD7-2AB6-90EC-CF246F3F6E39}"/>
              </a:ext>
            </a:extLst>
          </p:cNvPr>
          <p:cNvSpPr txBox="1">
            <a:spLocks/>
          </p:cNvSpPr>
          <p:nvPr/>
        </p:nvSpPr>
        <p:spPr>
          <a:xfrm>
            <a:off x="5806735" y="370185"/>
            <a:ext cx="2000931" cy="566237"/>
          </a:xfrm>
          <a:prstGeom prst="roundRect">
            <a:avLst>
              <a:gd name="adj" fmla="val 16089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vert="horz" lIns="0" tIns="0" rIns="0" bIns="0" rtlCol="0" anchor="ctr">
            <a:noAutofit/>
          </a:bodyPr>
          <a:lstStyle>
            <a:defPPr>
              <a:defRPr lang="fr-FR"/>
            </a:defPPr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defRPr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UcPeriod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LcPeriod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20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Référence</a:t>
            </a:r>
            <a:endParaRPr lang="fr-FR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2642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2426D-6FD6-6BFE-879F-8C4ED310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444E-40D5-C0BF-C926-C2D3C9609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Material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form</a:t>
            </a:r>
            <a:r>
              <a:rPr lang="fr-FR" dirty="0"/>
              <a:t>-</a:t>
            </a:r>
            <a:r>
              <a:rPr lang="fr-FR" dirty="0" err="1"/>
              <a:t>field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icon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button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…</a:t>
            </a:r>
          </a:p>
          <a:p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8EF402F-F99B-A6DB-4825-C84816C37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849A10-3CF8-025B-4334-98F7F6547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E4AFB4E-A517-EC9F-9DC0-8E7F3FFCAA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9124B2D-38EA-6D56-3E46-129A3EBDA4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671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Bootstrap</a:t>
            </a:r>
          </a:p>
          <a:p>
            <a:pPr marL="365760" lvl="1" indent="-274320">
              <a:spcBef>
                <a:spcPts val="0"/>
              </a:spcBef>
            </a:pPr>
            <a:r>
              <a:rPr lang="fr-FR" dirty="0"/>
              <a:t>Use Bootstrap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=&gt; </a:t>
            </a:r>
            <a:r>
              <a:rPr lang="fr-FR" dirty="0" err="1"/>
              <a:t>angular</a:t>
            </a:r>
            <a:r>
              <a:rPr lang="fr-FR" dirty="0"/>
              <a:t> bootstrap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dirty="0" err="1"/>
              <a:t>Fournit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“{property}{sides}-{breakpoint}{size}”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{property} : m, p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{sides} : top, bottom, left, </a:t>
            </a:r>
            <a:r>
              <a:rPr lang="en-GB" dirty="0" err="1"/>
              <a:t>x,y</a:t>
            </a:r>
            <a:endParaRPr lang="en-GB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72036DD7-D108-1346-2C01-CA136044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 Component</a:t>
            </a:r>
          </a:p>
        </p:txBody>
      </p:sp>
    </p:spTree>
    <p:extLst>
      <p:ext uri="{BB962C8B-B14F-4D97-AF65-F5344CB8AC3E}">
        <p14:creationId xmlns:p14="http://schemas.microsoft.com/office/powerpoint/2010/main" val="2835429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D3AC9-1A37-1BBD-73B2-348C3F40FD5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RxJS</a:t>
            </a:r>
          </a:p>
          <a:p>
            <a:pPr marL="0" indent="0" algn="ctr">
              <a:buNone/>
            </a:pPr>
            <a:r>
              <a:rPr lang="fr-FR" dirty="0" err="1"/>
              <a:t>Reactive</a:t>
            </a:r>
            <a:r>
              <a:rPr lang="fr-FR" dirty="0"/>
              <a:t> Extensions Lib for JS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Références : </a:t>
            </a:r>
            <a:r>
              <a:rPr lang="fr-FR" dirty="0">
                <a:hlinkClick r:id="rId2"/>
              </a:rPr>
              <a:t>Link</a:t>
            </a:r>
            <a:r>
              <a:rPr lang="fr-FR" dirty="0"/>
              <a:t>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Promise (One time)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Observable (Unicast)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Subject</a:t>
            </a:r>
            <a:r>
              <a:rPr lang="fr-FR" sz="1600" b="0" dirty="0"/>
              <a:t> (</a:t>
            </a:r>
            <a:r>
              <a:rPr lang="fr-FR" sz="1600" b="0" dirty="0" err="1"/>
              <a:t>multicasting</a:t>
            </a:r>
            <a:r>
              <a:rPr lang="fr-FR" sz="1600" b="0" dirty="0"/>
              <a:t>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Behavior</a:t>
            </a:r>
            <a:r>
              <a:rPr lang="fr-FR" sz="1200" b="0" dirty="0"/>
              <a:t>, </a:t>
            </a:r>
            <a:r>
              <a:rPr lang="fr-FR" sz="1200" b="0" dirty="0" err="1"/>
              <a:t>Async</a:t>
            </a:r>
            <a:r>
              <a:rPr lang="fr-FR" sz="1200" b="0" dirty="0"/>
              <a:t>, Replay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Observer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Next(), </a:t>
            </a:r>
            <a:r>
              <a:rPr lang="fr-FR" sz="1200" b="0" dirty="0" err="1"/>
              <a:t>error</a:t>
            </a:r>
            <a:r>
              <a:rPr lang="fr-FR" sz="1200" b="0" dirty="0"/>
              <a:t>(), </a:t>
            </a:r>
            <a:r>
              <a:rPr lang="fr-FR" sz="1200" b="0" dirty="0" err="1"/>
              <a:t>complete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Subscription</a:t>
            </a:r>
            <a:r>
              <a:rPr lang="fr-FR" sz="1600" b="0" dirty="0"/>
              <a:t> (</a:t>
            </a:r>
            <a:r>
              <a:rPr lang="fr-FR" sz="1600" b="0" dirty="0" err="1"/>
              <a:t>rsult</a:t>
            </a:r>
            <a:r>
              <a:rPr lang="fr-FR" sz="1600" b="0" dirty="0"/>
              <a:t> of .</a:t>
            </a:r>
            <a:r>
              <a:rPr lang="fr-FR" sz="1600" b="0" dirty="0" err="1"/>
              <a:t>subscribe</a:t>
            </a:r>
            <a:r>
              <a:rPr lang="fr-FR" sz="1600" b="0" dirty="0"/>
              <a:t>())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Finalize</a:t>
            </a:r>
            <a:r>
              <a:rPr lang="fr-FR" sz="1200" b="0" dirty="0"/>
              <a:t>(), </a:t>
            </a:r>
            <a:r>
              <a:rPr lang="fr-FR" sz="1200" b="0" dirty="0" err="1"/>
              <a:t>subscribe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Operator</a:t>
            </a:r>
            <a:endParaRPr lang="fr-FR" sz="1600" b="0" dirty="0"/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tap</a:t>
            </a:r>
            <a:r>
              <a:rPr lang="fr-FR" sz="1200" b="0" dirty="0"/>
              <a:t>, .</a:t>
            </a:r>
            <a:r>
              <a:rPr lang="fr-FR" sz="1200" b="0" dirty="0" err="1"/>
              <a:t>map</a:t>
            </a:r>
            <a:r>
              <a:rPr lang="fr-FR" sz="1200" b="0" dirty="0"/>
              <a:t>, </a:t>
            </a:r>
            <a:r>
              <a:rPr lang="fr-FR" sz="1200" b="0" dirty="0" err="1"/>
              <a:t>filter</a:t>
            </a:r>
            <a:r>
              <a:rPr lang="fr-FR" sz="1200" b="0" dirty="0"/>
              <a:t>, of, first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switchMap</a:t>
            </a:r>
            <a:r>
              <a:rPr lang="fr-FR" sz="1200" b="0" dirty="0"/>
              <a:t>, </a:t>
            </a:r>
            <a:r>
              <a:rPr lang="fr-FR" sz="1200" b="0" dirty="0" err="1"/>
              <a:t>exhaustMap</a:t>
            </a:r>
            <a:r>
              <a:rPr lang="fr-FR" sz="1200" b="0" dirty="0"/>
              <a:t>,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of(), first(), </a:t>
            </a:r>
            <a:endParaRPr lang="en-US" sz="1200" b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17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FCFD658-CF16-4780-8EEF-4B032EE051B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399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NgRx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Implement</a:t>
            </a:r>
            <a:r>
              <a:rPr lang="fr-FR" sz="1600" b="0" dirty="0"/>
              <a:t> </a:t>
            </a:r>
            <a:r>
              <a:rPr lang="fr-FR" sz="1600" b="0" dirty="0" err="1"/>
              <a:t>Redux</a:t>
            </a:r>
            <a:r>
              <a:rPr lang="fr-FR" sz="1600" b="0" dirty="0"/>
              <a:t> Pattern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Based</a:t>
            </a:r>
            <a:r>
              <a:rPr lang="fr-FR" sz="1600" b="0" dirty="0"/>
              <a:t> on RxJS, </a:t>
            </a:r>
            <a:r>
              <a:rPr lang="fr-FR" sz="1600" b="0" dirty="0" err="1"/>
              <a:t>Designed</a:t>
            </a:r>
            <a:r>
              <a:rPr lang="fr-FR" sz="1600" b="0" dirty="0"/>
              <a:t> for Angular</a:t>
            </a:r>
          </a:p>
          <a:p>
            <a:pPr marL="365760" lvl="1" indent="-274320">
              <a:spcBef>
                <a:spcPts val="0"/>
              </a:spcBef>
            </a:pPr>
            <a:endParaRPr lang="fr-FR" sz="1600" b="0" dirty="0"/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Store | State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Action | Reducer | Selector | Effect, 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Entity | Adapter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Router-store | Store-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lvl="1">
              <a:spcBef>
                <a:spcPts val="600"/>
              </a:spcBef>
            </a:pPr>
            <a:endParaRPr lang="fr-FR" sz="160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Actions. </a:t>
            </a:r>
            <a:r>
              <a:rPr lang="en-GB" sz="1600" b="0" dirty="0"/>
              <a:t>unique event sent by </a:t>
            </a:r>
            <a:r>
              <a:rPr lang="en-GB" sz="1600" b="0" dirty="0" err="1"/>
              <a:t>Serv</a:t>
            </a:r>
            <a:r>
              <a:rPr lang="en-GB" sz="1600" b="0" dirty="0"/>
              <a:t>° &amp; Compo°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Reducer. </a:t>
            </a:r>
            <a:r>
              <a:rPr lang="en-GB" sz="1600" b="0" dirty="0" err="1"/>
              <a:t>fct</a:t>
            </a:r>
            <a:r>
              <a:rPr lang="en-GB" sz="1600" b="0" dirty="0"/>
              <a:t>° apply during state change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Selector. </a:t>
            </a:r>
            <a:r>
              <a:rPr lang="en-GB" sz="1600" b="0" dirty="0"/>
              <a:t>to select state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Effect. </a:t>
            </a:r>
            <a:r>
              <a:rPr lang="en-GB" sz="1600" b="0" dirty="0"/>
              <a:t>interaction with external </a:t>
            </a:r>
            <a:r>
              <a:rPr lang="en-GB" sz="1600" b="0" dirty="0" err="1"/>
              <a:t>src</a:t>
            </a:r>
            <a:endParaRPr lang="en-GB" sz="1600" b="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Type of Effect in the Picture : </a:t>
            </a:r>
          </a:p>
          <a:p>
            <a:pPr lvl="1">
              <a:spcBef>
                <a:spcPts val="600"/>
              </a:spcBef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Reactive</a:t>
            </a:r>
            <a:r>
              <a:rPr lang="fr-FR" dirty="0"/>
              <a:t> - RxJS | NgRx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94D1B2-79E5-C3AE-D2C6-DF97B2DD7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591" y="4342504"/>
            <a:ext cx="4326013" cy="251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5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Web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14431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11772"/>
          </a:xfrm>
          <a:prstGeom prst="roundRect">
            <a:avLst>
              <a:gd name="adj" fmla="val 12233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Concept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Element</a:t>
            </a:r>
            <a:r>
              <a:rPr lang="fr-FR" sz="1600" b="0" dirty="0"/>
              <a:t>. &lt;balise&gt;&lt;/balise&gt;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Attribute</a:t>
            </a:r>
            <a:r>
              <a:rPr lang="fr-FR" sz="1600" b="0" dirty="0"/>
              <a:t> / Value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DOM / Shadow DOM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Forms / Graphics / Media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Html </a:t>
            </a:r>
            <a:r>
              <a:rPr lang="fr-FR" sz="1600" b="0" dirty="0" err="1">
                <a:hlinkClick r:id="rId2"/>
              </a:rPr>
              <a:t>validator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3"/>
              </a:rPr>
              <a:t>Reference</a:t>
            </a:r>
            <a:endParaRPr lang="fr-FR" sz="1600" b="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HTML </a:t>
            </a: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13207B3-8CFB-44C9-9437-B6F8A8551C49}"/>
              </a:ext>
            </a:extLst>
          </p:cNvPr>
          <p:cNvSpPr txBox="1">
            <a:spLocks/>
          </p:cNvSpPr>
          <p:nvPr/>
        </p:nvSpPr>
        <p:spPr>
          <a:xfrm>
            <a:off x="838199" y="3550418"/>
            <a:ext cx="5144311" cy="2428184"/>
          </a:xfrm>
          <a:prstGeom prst="roundRect">
            <a:avLst>
              <a:gd name="adj" fmla="val 84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Attribute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name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for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class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type</a:t>
            </a:r>
            <a:endParaRPr lang="en-US" sz="1600" b="0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444D54E-B56D-4726-AAE4-64AA3E2C1B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Common </a:t>
            </a:r>
            <a:r>
              <a:rPr lang="fr-FR" dirty="0" err="1"/>
              <a:t>Element</a:t>
            </a:r>
            <a:endParaRPr lang="fr-FR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head</a:t>
            </a:r>
            <a:r>
              <a:rPr lang="fr-FR" sz="1600" b="0" dirty="0"/>
              <a:t>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&lt;body&gt;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&lt;a&gt;. Link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&lt;p&gt;. </a:t>
            </a:r>
            <a:r>
              <a:rPr lang="fr-FR" sz="1600" b="0" dirty="0" err="1"/>
              <a:t>paragraph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button</a:t>
            </a:r>
            <a:r>
              <a:rPr lang="fr-FR" sz="1600" b="0" dirty="0"/>
              <a:t>&gt;,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video</a:t>
            </a:r>
            <a:r>
              <a:rPr lang="fr-FR" sz="1600" b="0" dirty="0"/>
              <a:t>&gt;…</a:t>
            </a:r>
          </a:p>
        </p:txBody>
      </p:sp>
    </p:spTree>
    <p:extLst>
      <p:ext uri="{BB962C8B-B14F-4D97-AF65-F5344CB8AC3E}">
        <p14:creationId xmlns:p14="http://schemas.microsoft.com/office/powerpoint/2010/main" val="547073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09D25-9D35-4F9C-4BF5-54C73687F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A52EA32-577D-9313-6DA6-6B68581CC1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CEE6CC-0A7A-8F1E-5B94-D502BE68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27422079-E2F4-2505-229A-50A59E32F8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B4729998-8BE4-B5E3-1120-A58D5027D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CSS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F94EC6-77E4-A4A6-228F-E1262738F97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82987" y="1089498"/>
            <a:ext cx="5497787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noProof="0" dirty="0"/>
              <a:t>Properties</a:t>
            </a: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0B44D3-6E79-9D75-6D72-C082F9B7F7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4815348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Presentation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CSS (Cascading Style Sheets)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How HTML </a:t>
            </a:r>
            <a:r>
              <a:rPr lang="en-US" sz="1400" b="0" dirty="0" err="1"/>
              <a:t>elts</a:t>
            </a:r>
            <a:r>
              <a:rPr lang="en-US" sz="1400" b="0" dirty="0"/>
              <a:t> are displayed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Stored in .</a:t>
            </a:r>
            <a:r>
              <a:rPr lang="en-US" sz="1400" b="0" dirty="0" err="1"/>
              <a:t>css</a:t>
            </a:r>
            <a:r>
              <a:rPr lang="en-US" sz="1400" b="0" dirty="0"/>
              <a:t> files</a:t>
            </a:r>
          </a:p>
          <a:p>
            <a:pPr marL="91440" lvl="1" indent="0">
              <a:spcBef>
                <a:spcPts val="600"/>
              </a:spcBef>
              <a:buNone/>
            </a:pPr>
            <a:endParaRPr lang="en-US" sz="1600" b="0" dirty="0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5E89D06-39D0-15FF-41AC-1DBD77DD675F}"/>
              </a:ext>
            </a:extLst>
          </p:cNvPr>
          <p:cNvSpPr txBox="1">
            <a:spLocks/>
          </p:cNvSpPr>
          <p:nvPr/>
        </p:nvSpPr>
        <p:spPr>
          <a:xfrm>
            <a:off x="948346" y="2301879"/>
            <a:ext cx="2173171" cy="1693004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Property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value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Media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Query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Breakpoint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Variables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BF7FE0B1-9C08-AA13-D7D8-B69A4F94A5DF}"/>
              </a:ext>
            </a:extLst>
          </p:cNvPr>
          <p:cNvSpPr txBox="1">
            <a:spLocks/>
          </p:cNvSpPr>
          <p:nvPr/>
        </p:nvSpPr>
        <p:spPr>
          <a:xfrm>
            <a:off x="948346" y="4129548"/>
            <a:ext cx="2173172" cy="656154"/>
          </a:xfrm>
          <a:prstGeom prst="roundRect">
            <a:avLst>
              <a:gd name="adj" fmla="val 230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Pré-Process</a:t>
            </a:r>
            <a:endParaRPr lang="fr-FR" sz="18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3"/>
              </a:rPr>
              <a:t>Sass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scss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),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less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200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Espace réservé du texte 7">
            <a:extLst>
              <a:ext uri="{FF2B5EF4-FFF2-40B4-BE49-F238E27FC236}">
                <a16:creationId xmlns:a16="http://schemas.microsoft.com/office/drawing/2014/main" id="{1C060C90-3A97-4766-A880-1F398E2E284C}"/>
              </a:ext>
            </a:extLst>
          </p:cNvPr>
          <p:cNvSpPr txBox="1">
            <a:spLocks/>
          </p:cNvSpPr>
          <p:nvPr/>
        </p:nvSpPr>
        <p:spPr>
          <a:xfrm>
            <a:off x="3317572" y="2301879"/>
            <a:ext cx="2130566" cy="2483823"/>
          </a:xfrm>
          <a:prstGeom prst="roundRect">
            <a:avLst>
              <a:gd name="adj" fmla="val 943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Selector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Simple /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Combinator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Attribute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(HTML)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Id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ea typeface="+mn-lt"/>
                <a:cs typeface="+mn-lt"/>
              </a:rPr>
              <a:t>Class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Elt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(:)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Pseudo-class (::)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Universal : *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Grouping : ,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479F69EE-7F2A-C367-E35C-4AFB7A541D13}"/>
              </a:ext>
            </a:extLst>
          </p:cNvPr>
          <p:cNvSpPr txBox="1">
            <a:spLocks/>
          </p:cNvSpPr>
          <p:nvPr/>
        </p:nvSpPr>
        <p:spPr>
          <a:xfrm>
            <a:off x="948346" y="4920367"/>
            <a:ext cx="4499792" cy="959323"/>
          </a:xfrm>
          <a:prstGeom prst="roundRect">
            <a:avLst>
              <a:gd name="adj" fmla="val 2481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Rules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Specificity. The more precise has priority</a:t>
            </a:r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!important. Make a style high priority</a:t>
            </a: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014F4AD5-D39E-0579-DC9B-A0A6B7E315D7}"/>
              </a:ext>
            </a:extLst>
          </p:cNvPr>
          <p:cNvSpPr txBox="1">
            <a:spLocks/>
          </p:cNvSpPr>
          <p:nvPr/>
        </p:nvSpPr>
        <p:spPr>
          <a:xfrm>
            <a:off x="5943652" y="1536690"/>
            <a:ext cx="5194519" cy="1338388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Design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RGB, HEX, HSL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Background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Box Model. border / margin / padding…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8564EC08-E5DC-98D3-3CA7-867DC2AEC99A}"/>
              </a:ext>
            </a:extLst>
          </p:cNvPr>
          <p:cNvSpPr txBox="1">
            <a:spLocks/>
          </p:cNvSpPr>
          <p:nvPr/>
        </p:nvSpPr>
        <p:spPr>
          <a:xfrm>
            <a:off x="5943652" y="3023542"/>
            <a:ext cx="5194519" cy="2744960"/>
          </a:xfrm>
          <a:prstGeom prst="roundRect">
            <a:avLst>
              <a:gd name="adj" fmla="val 584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Position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Display.</a:t>
            </a:r>
            <a:r>
              <a:rPr lang="en-US" sz="1400" b="0" dirty="0"/>
              <a:t> inline, block, flex / grid…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position / </a:t>
            </a:r>
            <a:endParaRPr lang="en-US" sz="14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Unity.</a:t>
            </a:r>
            <a:r>
              <a:rPr lang="en-US" sz="1400" b="0" dirty="0"/>
              <a:t> </a:t>
            </a:r>
            <a:r>
              <a:rPr lang="en-US" sz="1400" b="0" dirty="0" err="1"/>
              <a:t>px</a:t>
            </a:r>
            <a:r>
              <a:rPr lang="en-US" sz="1400" b="0" dirty="0"/>
              <a:t>, </a:t>
            </a:r>
            <a:r>
              <a:rPr lang="en-US" sz="1400" b="0" dirty="0" err="1"/>
              <a:t>em</a:t>
            </a:r>
            <a:r>
              <a:rPr lang="en-US" sz="1400" b="0" dirty="0"/>
              <a:t>, rem, %, </a:t>
            </a:r>
            <a:r>
              <a:rPr lang="en-US" sz="1400" b="0" dirty="0" err="1"/>
              <a:t>fr</a:t>
            </a:r>
            <a:endParaRPr lang="en-US" sz="1400" b="0" dirty="0"/>
          </a:p>
          <a:p>
            <a:pPr marL="360000" lvl="3" indent="-288000">
              <a:spcBef>
                <a:spcPts val="600"/>
              </a:spcBef>
            </a:pPr>
            <a:r>
              <a:rPr lang="en-US" sz="1400" dirty="0"/>
              <a:t>Validator. </a:t>
            </a:r>
            <a:r>
              <a:rPr lang="en-GB" sz="1400" b="1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6"/>
              </a:rPr>
              <a:t>Jigsaw</a:t>
            </a:r>
            <a:endParaRPr lang="en-GB" sz="1400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869EF421-3B8D-E971-CBC9-876CE50EB041}"/>
              </a:ext>
            </a:extLst>
          </p:cNvPr>
          <p:cNvSpPr txBox="1">
            <a:spLocks/>
          </p:cNvSpPr>
          <p:nvPr/>
        </p:nvSpPr>
        <p:spPr>
          <a:xfrm>
            <a:off x="6096000" y="4631603"/>
            <a:ext cx="3795217" cy="947487"/>
          </a:xfrm>
          <a:prstGeom prst="roundRect">
            <a:avLst>
              <a:gd name="adj" fmla="val 199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Container (Layout)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Flex. </a:t>
            </a:r>
            <a:r>
              <a:rPr lang="en-US" sz="1400" b="0" dirty="0"/>
              <a:t>Container, direction, wrap, grow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Grid. </a:t>
            </a:r>
            <a:r>
              <a:rPr lang="en-US" sz="1400" b="0" dirty="0"/>
              <a:t>Container, column, row…</a:t>
            </a:r>
          </a:p>
        </p:txBody>
      </p:sp>
    </p:spTree>
    <p:extLst>
      <p:ext uri="{BB962C8B-B14F-4D97-AF65-F5344CB8AC3E}">
        <p14:creationId xmlns:p14="http://schemas.microsoft.com/office/powerpoint/2010/main" val="2339900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415CF-6A4C-2B7E-FE98-0E0BA3577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1545AC-A0B6-7ECE-B259-084C91996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4508D07-3C15-21AF-DACF-83DDFE17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0B2D663-A52B-593C-BDDA-4739623132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927710D1-B174-2D8F-17D4-8C17FB44C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Javascript &amp; Typescript 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AC93D1-4C82-12C6-A5CA-B5BB0BB05B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Typescript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Variable, type, </a:t>
            </a:r>
            <a:r>
              <a:rPr lang="fr-FR" sz="1600" b="0" dirty="0" err="1"/>
              <a:t>enum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Function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Class, Object, Property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Cloner un objet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Interface &amp; Héritage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Public | Privé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Modifiers (readonly, </a:t>
            </a:r>
            <a:r>
              <a:rPr lang="fr-FR" sz="1600" b="0" dirty="0" err="1"/>
              <a:t>optionnal</a:t>
            </a:r>
            <a:r>
              <a:rPr lang="fr-FR" sz="1600" b="0" dirty="0"/>
              <a:t>…)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Decorator (~Annotation de classe)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…</a:t>
            </a:r>
          </a:p>
          <a:p>
            <a:pPr marL="365760" lvl="1" indent="-274320">
              <a:spcBef>
                <a:spcPts val="600"/>
              </a:spcBef>
            </a:pP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Version 5.4 (</a:t>
            </a:r>
            <a:r>
              <a:rPr lang="fr-FR" sz="1600" b="0" dirty="0" err="1"/>
              <a:t>readonly</a:t>
            </a:r>
            <a:r>
              <a:rPr lang="fr-FR" sz="1600" b="0" dirty="0"/>
              <a:t> modifier / import type…)</a:t>
            </a:r>
          </a:p>
          <a:p>
            <a:pPr marL="0" indent="0" algn="ctr">
              <a:buNone/>
            </a:pP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CA1533-5E59-89C4-40DE-92DABAE84E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Javascript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??</a:t>
            </a:r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165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1A56A-FAAC-5849-65C7-D9F7EE9EC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9AC3B4-D364-2BA2-2892-FCA0EEC3A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 err="1">
                <a:latin typeface="Arial"/>
                <a:cs typeface="Arial"/>
              </a:rPr>
              <a:t>Database</a:t>
            </a:r>
            <a:endParaRPr lang="fr-FR" dirty="0">
              <a:latin typeface="Arial"/>
              <a:cs typeface="Arial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4CC263D-8CCE-1298-FB54-E3732DBA35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7060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A83EF7-93B0-3147-8008-81D2C5F3C4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23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2A1DB-E775-586C-BF0B-9110ABFE7D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3AFDC9-639A-9F7B-4F7B-09AC0623CD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44412E-CB84-36F0-CC16-68512561D17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MartenDb</a:t>
            </a:r>
            <a:endParaRPr lang="en-US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Distributed as </a:t>
            </a:r>
            <a:r>
              <a:rPr lang="en-US" sz="1600" b="0" dirty="0" err="1"/>
              <a:t>Nuget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Aim at use PostgreSQL as a </a:t>
            </a:r>
            <a:r>
              <a:rPr lang="en-US" sz="1600" b="0" dirty="0" err="1"/>
              <a:t>DocDb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Provide a </a:t>
            </a:r>
            <a:r>
              <a:rPr lang="en-US" sz="1600" b="0" dirty="0" err="1"/>
              <a:t>DocumentDatabase</a:t>
            </a:r>
            <a:r>
              <a:rPr lang="en-US" sz="1600" b="0" dirty="0"/>
              <a:t> &amp; </a:t>
            </a:r>
            <a:r>
              <a:rPr lang="en-US" sz="1600" b="0" dirty="0" err="1"/>
              <a:t>EventSourcing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Dapper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</a:t>
            </a:r>
            <a:r>
              <a:rPr lang="en-US" sz="1600" b="0" dirty="0" err="1"/>
              <a:t>Postgre</a:t>
            </a:r>
            <a:r>
              <a:rPr lang="en-US" sz="1600" b="0" dirty="0"/>
              <a:t> RDBMS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ACID compliant</a:t>
            </a:r>
          </a:p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446727-53D1-AE50-6820-95A51394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A4A66C6-2260-73E3-F7FA-32DE88EDBE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2651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0D25277-FD26-BD87-D5C6-0474096AE5B1}"/>
              </a:ext>
            </a:extLst>
          </p:cNvPr>
          <p:cNvSpPr txBox="1">
            <a:spLocks/>
          </p:cNvSpPr>
          <p:nvPr/>
        </p:nvSpPr>
        <p:spPr>
          <a:xfrm>
            <a:off x="5584723" y="1092088"/>
            <a:ext cx="5696052" cy="1500984"/>
          </a:xfrm>
          <a:prstGeom prst="roundRect">
            <a:avLst>
              <a:gd name="adj" fmla="val 1303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 err="1"/>
              <a:t>Front.Css.Pre</a:t>
            </a:r>
            <a:r>
              <a:rPr lang="fr-FR" dirty="0"/>
              <a:t>-Processor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Scss,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Postcss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92C7A8-9372-4136-B20B-098CF456D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4210F7-4F07-4CA5-9EB6-A3D6CB05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C77544-974D-483E-8529-CFEBC71AD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2288458" cy="3188588"/>
          </a:xfrm>
          <a:prstGeom prst="roundRect">
            <a:avLst>
              <a:gd name="adj" fmla="val 9819"/>
            </a:avLst>
          </a:prstGeom>
        </p:spPr>
        <p:txBody>
          <a:bodyPr/>
          <a:lstStyle/>
          <a:p>
            <a:pPr marL="72000" indent="0" algn="ctr">
              <a:spcBef>
                <a:spcPts val="600"/>
              </a:spcBef>
              <a:buNone/>
            </a:pPr>
            <a:r>
              <a:rPr lang="fr-FR" dirty="0"/>
              <a:t>Framework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Angular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React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Vue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Node.Js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WebForms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MVC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Blazor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Spring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47891B-EC3F-4BD8-9529-9F31EE1882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F8FF8A0-CA2B-451B-A60A-8087CFA4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Technologie Envisageables</a:t>
            </a:r>
            <a:endParaRPr lang="en-GB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E70A2B8-3345-04A2-1CE3-35872359CCB7}"/>
              </a:ext>
            </a:extLst>
          </p:cNvPr>
          <p:cNvSpPr txBox="1">
            <a:spLocks/>
          </p:cNvSpPr>
          <p:nvPr/>
        </p:nvSpPr>
        <p:spPr>
          <a:xfrm>
            <a:off x="3313471" y="1089500"/>
            <a:ext cx="2084439" cy="3188587"/>
          </a:xfrm>
          <a:prstGeom prst="roundRect">
            <a:avLst>
              <a:gd name="adj" fmla="val 111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Langage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Java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Kotlin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Groovy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C#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C++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Python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0FBF0-D4C5-AEFA-E387-597A0657D16A}"/>
              </a:ext>
            </a:extLst>
          </p:cNvPr>
          <p:cNvSpPr txBox="1">
            <a:spLocks/>
          </p:cNvSpPr>
          <p:nvPr/>
        </p:nvSpPr>
        <p:spPr>
          <a:xfrm>
            <a:off x="5584723" y="2744125"/>
            <a:ext cx="5696052" cy="3188588"/>
          </a:xfrm>
          <a:prstGeom prst="roundRect">
            <a:avLst>
              <a:gd name="adj" fmla="val 774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Ui.Components</a:t>
            </a:r>
            <a:endParaRPr lang="fr-FR">
              <a:hlinkClick r:id="rId6"/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DevExtreme</a:t>
            </a:r>
            <a:r>
              <a:rPr lang="fr-FR"/>
              <a:t> / DevExpress </a:t>
            </a:r>
            <a:r>
              <a:rPr lang="fr-FR" b="0"/>
              <a:t>(~angular / material)</a:t>
            </a:r>
            <a:endParaRPr lang="fr-FR"/>
          </a:p>
          <a:p>
            <a:pPr marL="540000" lvl="2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sz="1800">
                <a:solidFill>
                  <a:schemeClr val="bg1">
                    <a:lumMod val="75000"/>
                  </a:schemeClr>
                </a:solidFill>
                <a:ea typeface="+mn-ea"/>
                <a:cs typeface="+mn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NgxBootstrap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(bootstrap adapted for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angular)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Bootstrap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(impl ac class css)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Bulma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Syncfusion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Ionic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b="0">
                <a:solidFill>
                  <a:schemeClr val="bg1">
                    <a:lumMod val="75000"/>
                  </a:schemeClr>
                </a:solidFill>
              </a:rPr>
              <a:t>Telerik Ui Blazor</a:t>
            </a:r>
            <a:endParaRPr lang="fr-FR" sz="2800" dirty="0">
              <a:highlight>
                <a:srgbClr val="FFFF00"/>
              </a:highlight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4CC378E-581A-B1DF-4780-196F6E4D962F}"/>
              </a:ext>
            </a:extLst>
          </p:cNvPr>
          <p:cNvSpPr txBox="1">
            <a:spLocks/>
          </p:cNvSpPr>
          <p:nvPr/>
        </p:nvSpPr>
        <p:spPr>
          <a:xfrm>
            <a:off x="838201" y="4431163"/>
            <a:ext cx="4559710" cy="1501549"/>
          </a:xfrm>
          <a:prstGeom prst="roundRect">
            <a:avLst>
              <a:gd name="adj" fmla="val 2105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Données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EntityFramework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Dapper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OrmLite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3184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2668</TotalTime>
  <Words>1903</Words>
  <Application>Microsoft Office PowerPoint</Application>
  <PresentationFormat>Widescreen</PresentationFormat>
  <Paragraphs>557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Allumi Ptf</vt:lpstr>
      <vt:lpstr>Arial,Sans-Serif</vt:lpstr>
      <vt:lpstr>Arial</vt:lpstr>
      <vt:lpstr>Calibri</vt:lpstr>
      <vt:lpstr>Roboto Mono</vt:lpstr>
      <vt:lpstr>KGT_PPT_Theme_New</vt:lpstr>
      <vt:lpstr>Technology</vt:lpstr>
      <vt:lpstr>Summary</vt:lpstr>
      <vt:lpstr>.NET</vt:lpstr>
      <vt:lpstr>Versions</vt:lpstr>
      <vt:lpstr>Overview</vt:lpstr>
      <vt:lpstr>Concepts – By Stack</vt:lpstr>
      <vt:lpstr>Concepts</vt:lpstr>
      <vt:lpstr>Managed execution in CLR</vt:lpstr>
      <vt:lpstr>Packages</vt:lpstr>
      <vt:lpstr>C# Language</vt:lpstr>
      <vt:lpstr>C# Language</vt:lpstr>
      <vt:lpstr>Angular</vt:lpstr>
      <vt:lpstr>Overview</vt:lpstr>
      <vt:lpstr>Concepts</vt:lpstr>
      <vt:lpstr>Versions</vt:lpstr>
      <vt:lpstr>Web Component</vt:lpstr>
      <vt:lpstr>Reactive - RxJS | NgRx</vt:lpstr>
      <vt:lpstr>Web</vt:lpstr>
      <vt:lpstr>HTML </vt:lpstr>
      <vt:lpstr>CSS </vt:lpstr>
      <vt:lpstr>Javascript &amp; Typescript  </vt:lpstr>
      <vt:lpstr>Database</vt:lpstr>
      <vt:lpstr>PowerPoint Presentation</vt:lpstr>
      <vt:lpstr>PowerPoint Presentation</vt:lpstr>
      <vt:lpstr>Technologie Envisageables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1308</cp:revision>
  <dcterms:created xsi:type="dcterms:W3CDTF">2021-05-30T21:09:19Z</dcterms:created>
  <dcterms:modified xsi:type="dcterms:W3CDTF">2025-04-28T17:52:02Z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